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60" r:id="rId5"/>
    <p:sldId id="272" r:id="rId6"/>
    <p:sldId id="274" r:id="rId7"/>
    <p:sldId id="275" r:id="rId8"/>
    <p:sldId id="273" r:id="rId9"/>
    <p:sldId id="276" r:id="rId10"/>
    <p:sldId id="271" r:id="rId11"/>
  </p:sldIdLst>
  <p:sldSz cx="18288000" cy="10287000"/>
  <p:notesSz cx="6858000" cy="9144000"/>
  <p:embeddedFontLst>
    <p:embeddedFont>
      <p:font typeface="Amasis MT Pro" panose="02040504050005020304" pitchFamily="18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5FF25-B725-4CA5-92C0-5A95A998AD60}" v="11" dt="2026-05-07T06:57:47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84" y="10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53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is Lille" userId="f9d5d31895480ca9" providerId="LiveId" clId="{6A0207A4-523B-4CF1-8966-98BFAA34D7F9}"/>
    <pc:docChg chg="custSel addSld delSld modSld">
      <pc:chgData name="Liis Lille" userId="f9d5d31895480ca9" providerId="LiveId" clId="{6A0207A4-523B-4CF1-8966-98BFAA34D7F9}" dt="2026-05-07T06:54:41.736" v="572" actId="113"/>
      <pc:docMkLst>
        <pc:docMk/>
      </pc:docMkLst>
      <pc:sldChg chg="delSp modSp mod">
        <pc:chgData name="Liis Lille" userId="f9d5d31895480ca9" providerId="LiveId" clId="{6A0207A4-523B-4CF1-8966-98BFAA34D7F9}" dt="2026-05-07T06:30:10.511" v="520"/>
        <pc:sldMkLst>
          <pc:docMk/>
          <pc:sldMk cId="0" sldId="256"/>
        </pc:sldMkLst>
        <pc:spChg chg="mod">
          <ac:chgData name="Liis Lille" userId="f9d5d31895480ca9" providerId="LiveId" clId="{6A0207A4-523B-4CF1-8966-98BFAA34D7F9}" dt="2026-05-07T06:29:59.584" v="517" actId="10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Liis Lille" userId="f9d5d31895480ca9" providerId="LiveId" clId="{6A0207A4-523B-4CF1-8966-98BFAA34D7F9}" dt="2026-05-07T06:30:10.511" v="520"/>
          <ac:spMkLst>
            <pc:docMk/>
            <pc:sldMk cId="0" sldId="256"/>
            <ac:spMk id="4" creationId="{454E7AE0-D01C-CD13-4D29-84439EB99E3F}"/>
          </ac:spMkLst>
        </pc:spChg>
      </pc:sldChg>
      <pc:sldChg chg="modSp mod">
        <pc:chgData name="Liis Lille" userId="f9d5d31895480ca9" providerId="LiveId" clId="{6A0207A4-523B-4CF1-8966-98BFAA34D7F9}" dt="2026-05-07T02:23:48.960" v="16" actId="12"/>
        <pc:sldMkLst>
          <pc:docMk/>
          <pc:sldMk cId="0" sldId="257"/>
        </pc:sldMkLst>
        <pc:spChg chg="mod">
          <ac:chgData name="Liis Lille" userId="f9d5d31895480ca9" providerId="LiveId" clId="{6A0207A4-523B-4CF1-8966-98BFAA34D7F9}" dt="2026-05-07T02:23:02.980" v="11" actId="14100"/>
          <ac:spMkLst>
            <pc:docMk/>
            <pc:sldMk cId="0" sldId="257"/>
            <ac:spMk id="13" creationId="{DD75D4E7-2DA6-9C49-917D-CE7C5873822B}"/>
          </ac:spMkLst>
        </pc:spChg>
        <pc:spChg chg="mod">
          <ac:chgData name="Liis Lille" userId="f9d5d31895480ca9" providerId="LiveId" clId="{6A0207A4-523B-4CF1-8966-98BFAA34D7F9}" dt="2026-05-07T02:23:48.960" v="16" actId="12"/>
          <ac:spMkLst>
            <pc:docMk/>
            <pc:sldMk cId="0" sldId="257"/>
            <ac:spMk id="15" creationId="{09DDE99A-8539-7DEA-8809-2DBE6AD419E3}"/>
          </ac:spMkLst>
        </pc:spChg>
      </pc:sldChg>
      <pc:sldChg chg="modSp mod">
        <pc:chgData name="Liis Lille" userId="f9d5d31895480ca9" providerId="LiveId" clId="{6A0207A4-523B-4CF1-8966-98BFAA34D7F9}" dt="2026-05-07T06:30:29.636" v="521" actId="20577"/>
        <pc:sldMkLst>
          <pc:docMk/>
          <pc:sldMk cId="2328224150" sldId="259"/>
        </pc:sldMkLst>
        <pc:spChg chg="mod">
          <ac:chgData name="Liis Lille" userId="f9d5d31895480ca9" providerId="LiveId" clId="{6A0207A4-523B-4CF1-8966-98BFAA34D7F9}" dt="2026-05-07T06:30:29.636" v="521" actId="20577"/>
          <ac:spMkLst>
            <pc:docMk/>
            <pc:sldMk cId="2328224150" sldId="259"/>
            <ac:spMk id="15" creationId="{5798C868-BBBE-30BD-789C-D81A19F451EF}"/>
          </ac:spMkLst>
        </pc:spChg>
      </pc:sldChg>
      <pc:sldChg chg="addSp delSp modSp mod">
        <pc:chgData name="Liis Lille" userId="f9d5d31895480ca9" providerId="LiveId" clId="{6A0207A4-523B-4CF1-8966-98BFAA34D7F9}" dt="2026-05-07T06:37:09.751" v="543" actId="20577"/>
        <pc:sldMkLst>
          <pc:docMk/>
          <pc:sldMk cId="1598811428" sldId="260"/>
        </pc:sldMkLst>
        <pc:spChg chg="mod">
          <ac:chgData name="Liis Lille" userId="f9d5d31895480ca9" providerId="LiveId" clId="{6A0207A4-523B-4CF1-8966-98BFAA34D7F9}" dt="2026-05-07T02:28:27.195" v="360" actId="108"/>
          <ac:spMkLst>
            <pc:docMk/>
            <pc:sldMk cId="1598811428" sldId="260"/>
            <ac:spMk id="13" creationId="{6D040335-123C-3B5F-FDE0-76D2A69464D3}"/>
          </ac:spMkLst>
        </pc:spChg>
        <pc:spChg chg="mod">
          <ac:chgData name="Liis Lille" userId="f9d5d31895480ca9" providerId="LiveId" clId="{6A0207A4-523B-4CF1-8966-98BFAA34D7F9}" dt="2026-05-07T06:37:09.751" v="543" actId="20577"/>
          <ac:spMkLst>
            <pc:docMk/>
            <pc:sldMk cId="1598811428" sldId="260"/>
            <ac:spMk id="19" creationId="{A058CE53-6EFE-018F-076A-6FFE8E91110D}"/>
          </ac:spMkLst>
        </pc:spChg>
        <pc:spChg chg="mod">
          <ac:chgData name="Liis Lille" userId="f9d5d31895480ca9" providerId="LiveId" clId="{6A0207A4-523B-4CF1-8966-98BFAA34D7F9}" dt="2026-05-07T02:24:19.616" v="41" actId="20577"/>
          <ac:spMkLst>
            <pc:docMk/>
            <pc:sldMk cId="1598811428" sldId="260"/>
            <ac:spMk id="31" creationId="{0AAB19A7-DA05-659B-D5D2-F5EC8A874D3D}"/>
          </ac:spMkLst>
        </pc:spChg>
        <pc:spChg chg="mod">
          <ac:chgData name="Liis Lille" userId="f9d5d31895480ca9" providerId="LiveId" clId="{6A0207A4-523B-4CF1-8966-98BFAA34D7F9}" dt="2026-05-07T02:24:27.242" v="61" actId="20577"/>
          <ac:spMkLst>
            <pc:docMk/>
            <pc:sldMk cId="1598811428" sldId="260"/>
            <ac:spMk id="32" creationId="{8763EC5D-6A06-B875-3800-00B1744B59D5}"/>
          </ac:spMkLst>
        </pc:spChg>
        <pc:spChg chg="mod">
          <ac:chgData name="Liis Lille" userId="f9d5d31895480ca9" providerId="LiveId" clId="{6A0207A4-523B-4CF1-8966-98BFAA34D7F9}" dt="2026-05-07T02:26:22.492" v="332" actId="20577"/>
          <ac:spMkLst>
            <pc:docMk/>
            <pc:sldMk cId="1598811428" sldId="260"/>
            <ac:spMk id="33" creationId="{E8E33D3E-3440-EB93-E7FD-8C5AACEAE32E}"/>
          </ac:spMkLst>
        </pc:spChg>
        <pc:spChg chg="del mod">
          <ac:chgData name="Liis Lille" userId="f9d5d31895480ca9" providerId="LiveId" clId="{6A0207A4-523B-4CF1-8966-98BFAA34D7F9}" dt="2026-05-07T02:27:38.438" v="343"/>
          <ac:spMkLst>
            <pc:docMk/>
            <pc:sldMk cId="1598811428" sldId="260"/>
            <ac:spMk id="34" creationId="{E0F3D9CC-B938-FAFD-9FD8-0FB6E74A3581}"/>
          </ac:spMkLst>
        </pc:spChg>
        <pc:picChg chg="add mod">
          <ac:chgData name="Liis Lille" userId="f9d5d31895480ca9" providerId="LiveId" clId="{6A0207A4-523B-4CF1-8966-98BFAA34D7F9}" dt="2026-05-07T02:27:44.214" v="345" actId="1076"/>
          <ac:picMkLst>
            <pc:docMk/>
            <pc:sldMk cId="1598811428" sldId="260"/>
            <ac:picMk id="14" creationId="{14F29260-7244-35BC-B18C-B6A845BFD825}"/>
          </ac:picMkLst>
        </pc:picChg>
        <pc:picChg chg="add mod">
          <ac:chgData name="Liis Lille" userId="f9d5d31895480ca9" providerId="LiveId" clId="{6A0207A4-523B-4CF1-8966-98BFAA34D7F9}" dt="2026-05-07T02:27:20.157" v="338" actId="1076"/>
          <ac:picMkLst>
            <pc:docMk/>
            <pc:sldMk cId="1598811428" sldId="260"/>
            <ac:picMk id="16" creationId="{764B7462-659E-9C08-F4D8-EFFFD77D34FA}"/>
          </ac:picMkLst>
        </pc:picChg>
        <pc:picChg chg="del">
          <ac:chgData name="Liis Lille" userId="f9d5d31895480ca9" providerId="LiveId" clId="{6A0207A4-523B-4CF1-8966-98BFAA34D7F9}" dt="2026-05-07T02:27:38.438" v="341" actId="478"/>
          <ac:picMkLst>
            <pc:docMk/>
            <pc:sldMk cId="1598811428" sldId="260"/>
            <ac:picMk id="23" creationId="{3B499C6D-B2E9-8CC9-3D92-661452649BAC}"/>
          </ac:picMkLst>
        </pc:picChg>
        <pc:picChg chg="del">
          <ac:chgData name="Liis Lille" userId="f9d5d31895480ca9" providerId="LiveId" clId="{6A0207A4-523B-4CF1-8966-98BFAA34D7F9}" dt="2026-05-07T02:26:56.655" v="333" actId="478"/>
          <ac:picMkLst>
            <pc:docMk/>
            <pc:sldMk cId="1598811428" sldId="260"/>
            <ac:picMk id="25" creationId="{9DBE5C03-6234-A837-00E7-911AC90C8BDE}"/>
          </ac:picMkLst>
        </pc:picChg>
      </pc:sldChg>
      <pc:sldChg chg="del">
        <pc:chgData name="Liis Lille" userId="f9d5d31895480ca9" providerId="LiveId" clId="{6A0207A4-523B-4CF1-8966-98BFAA34D7F9}" dt="2026-05-07T02:34:00.788" v="465" actId="2696"/>
        <pc:sldMkLst>
          <pc:docMk/>
          <pc:sldMk cId="1894231303" sldId="261"/>
        </pc:sldMkLst>
      </pc:sldChg>
      <pc:sldChg chg="del">
        <pc:chgData name="Liis Lille" userId="f9d5d31895480ca9" providerId="LiveId" clId="{6A0207A4-523B-4CF1-8966-98BFAA34D7F9}" dt="2026-05-07T02:34:05.727" v="466" actId="2696"/>
        <pc:sldMkLst>
          <pc:docMk/>
          <pc:sldMk cId="113195485" sldId="262"/>
        </pc:sldMkLst>
      </pc:sldChg>
      <pc:sldChg chg="modSp mod">
        <pc:chgData name="Liis Lille" userId="f9d5d31895480ca9" providerId="LiveId" clId="{6A0207A4-523B-4CF1-8966-98BFAA34D7F9}" dt="2026-05-07T02:34:20.668" v="497" actId="20577"/>
        <pc:sldMkLst>
          <pc:docMk/>
          <pc:sldMk cId="1006853950" sldId="271"/>
        </pc:sldMkLst>
        <pc:spChg chg="mod">
          <ac:chgData name="Liis Lille" userId="f9d5d31895480ca9" providerId="LiveId" clId="{6A0207A4-523B-4CF1-8966-98BFAA34D7F9}" dt="2026-05-07T02:34:20.668" v="497" actId="20577"/>
          <ac:spMkLst>
            <pc:docMk/>
            <pc:sldMk cId="1006853950" sldId="271"/>
            <ac:spMk id="17" creationId="{9F8FA645-9771-8A55-E4D4-8767BDA933D8}"/>
          </ac:spMkLst>
        </pc:spChg>
      </pc:sldChg>
      <pc:sldChg chg="delSp modSp mod">
        <pc:chgData name="Liis Lille" userId="f9d5d31895480ca9" providerId="LiveId" clId="{6A0207A4-523B-4CF1-8966-98BFAA34D7F9}" dt="2026-05-07T02:30:46.793" v="419" actId="12"/>
        <pc:sldMkLst>
          <pc:docMk/>
          <pc:sldMk cId="119526284" sldId="272"/>
        </pc:sldMkLst>
        <pc:spChg chg="mod">
          <ac:chgData name="Liis Lille" userId="f9d5d31895480ca9" providerId="LiveId" clId="{6A0207A4-523B-4CF1-8966-98BFAA34D7F9}" dt="2026-05-07T02:29:26.444" v="400" actId="20577"/>
          <ac:spMkLst>
            <pc:docMk/>
            <pc:sldMk cId="119526284" sldId="272"/>
            <ac:spMk id="13" creationId="{651A661E-DD43-4280-D314-F654F4F6D3A3}"/>
          </ac:spMkLst>
        </pc:spChg>
        <pc:spChg chg="mod">
          <ac:chgData name="Liis Lille" userId="f9d5d31895480ca9" providerId="LiveId" clId="{6A0207A4-523B-4CF1-8966-98BFAA34D7F9}" dt="2026-05-07T02:30:46.793" v="419" actId="12"/>
          <ac:spMkLst>
            <pc:docMk/>
            <pc:sldMk cId="119526284" sldId="272"/>
            <ac:spMk id="15" creationId="{0738A3B6-9DB8-828C-A498-E92158A216D4}"/>
          </ac:spMkLst>
        </pc:spChg>
        <pc:graphicFrameChg chg="del mod modGraphic">
          <ac:chgData name="Liis Lille" userId="f9d5d31895480ca9" providerId="LiveId" clId="{6A0207A4-523B-4CF1-8966-98BFAA34D7F9}" dt="2026-05-07T02:30:23.726" v="417" actId="478"/>
          <ac:graphicFrameMkLst>
            <pc:docMk/>
            <pc:sldMk cId="119526284" sldId="272"/>
            <ac:graphicFrameMk id="17" creationId="{742BDCCB-2178-F5E1-67C7-B391EE4D6484}"/>
          </ac:graphicFrameMkLst>
        </pc:graphicFrameChg>
      </pc:sldChg>
      <pc:sldChg chg="delSp modSp mod">
        <pc:chgData name="Liis Lille" userId="f9d5d31895480ca9" providerId="LiveId" clId="{6A0207A4-523B-4CF1-8966-98BFAA34D7F9}" dt="2026-05-07T06:54:41.736" v="572" actId="113"/>
        <pc:sldMkLst>
          <pc:docMk/>
          <pc:sldMk cId="962008396" sldId="273"/>
        </pc:sldMkLst>
        <pc:spChg chg="mod">
          <ac:chgData name="Liis Lille" userId="f9d5d31895480ca9" providerId="LiveId" clId="{6A0207A4-523B-4CF1-8966-98BFAA34D7F9}" dt="2026-05-07T06:53:49.869" v="565" actId="20577"/>
          <ac:spMkLst>
            <pc:docMk/>
            <pc:sldMk cId="962008396" sldId="273"/>
            <ac:spMk id="13" creationId="{75167387-394B-BAF9-ADA8-0985F6722AAB}"/>
          </ac:spMkLst>
        </pc:spChg>
        <pc:spChg chg="mod">
          <ac:chgData name="Liis Lille" userId="f9d5d31895480ca9" providerId="LiveId" clId="{6A0207A4-523B-4CF1-8966-98BFAA34D7F9}" dt="2026-05-07T06:54:41.736" v="572" actId="113"/>
          <ac:spMkLst>
            <pc:docMk/>
            <pc:sldMk cId="962008396" sldId="273"/>
            <ac:spMk id="16" creationId="{0AC928DC-7B40-7E79-7697-992140F35BB7}"/>
          </ac:spMkLst>
        </pc:spChg>
        <pc:picChg chg="del">
          <ac:chgData name="Liis Lille" userId="f9d5d31895480ca9" providerId="LiveId" clId="{6A0207A4-523B-4CF1-8966-98BFAA34D7F9}" dt="2026-05-07T02:34:26.994" v="498" actId="478"/>
          <ac:picMkLst>
            <pc:docMk/>
            <pc:sldMk cId="962008396" sldId="273"/>
            <ac:picMk id="12" creationId="{E49DDA42-AA0F-FE5E-7AB7-BD606EB943CD}"/>
          </ac:picMkLst>
        </pc:picChg>
      </pc:sldChg>
      <pc:sldChg chg="delSp modSp add mod">
        <pc:chgData name="Liis Lille" userId="f9d5d31895480ca9" providerId="LiveId" clId="{6A0207A4-523B-4CF1-8966-98BFAA34D7F9}" dt="2026-05-07T02:32:13.170" v="435" actId="14100"/>
        <pc:sldMkLst>
          <pc:docMk/>
          <pc:sldMk cId="733794733" sldId="274"/>
        </pc:sldMkLst>
        <pc:spChg chg="mod">
          <ac:chgData name="Liis Lille" userId="f9d5d31895480ca9" providerId="LiveId" clId="{6A0207A4-523B-4CF1-8966-98BFAA34D7F9}" dt="2026-05-07T02:32:13.170" v="435" actId="14100"/>
          <ac:spMkLst>
            <pc:docMk/>
            <pc:sldMk cId="733794733" sldId="274"/>
            <ac:spMk id="15" creationId="{70DD37C9-B9CF-3FC9-0034-97177B5F032A}"/>
          </ac:spMkLst>
        </pc:spChg>
        <pc:graphicFrameChg chg="del mod modGraphic">
          <ac:chgData name="Liis Lille" userId="f9d5d31895480ca9" providerId="LiveId" clId="{6A0207A4-523B-4CF1-8966-98BFAA34D7F9}" dt="2026-05-07T02:31:25.429" v="425" actId="478"/>
          <ac:graphicFrameMkLst>
            <pc:docMk/>
            <pc:sldMk cId="733794733" sldId="274"/>
            <ac:graphicFrameMk id="17" creationId="{F151A91C-AD58-6F5D-E449-0633EAC34762}"/>
          </ac:graphicFrameMkLst>
        </pc:graphicFrameChg>
      </pc:sldChg>
      <pc:sldChg chg="modSp add mod">
        <pc:chgData name="Liis Lille" userId="f9d5d31895480ca9" providerId="LiveId" clId="{6A0207A4-523B-4CF1-8966-98BFAA34D7F9}" dt="2026-05-07T02:35:45.095" v="514" actId="113"/>
        <pc:sldMkLst>
          <pc:docMk/>
          <pc:sldMk cId="2959053498" sldId="275"/>
        </pc:sldMkLst>
        <pc:spChg chg="mod">
          <ac:chgData name="Liis Lille" userId="f9d5d31895480ca9" providerId="LiveId" clId="{6A0207A4-523B-4CF1-8966-98BFAA34D7F9}" dt="2026-05-07T02:35:45.095" v="514" actId="113"/>
          <ac:spMkLst>
            <pc:docMk/>
            <pc:sldMk cId="2959053498" sldId="275"/>
            <ac:spMk id="15" creationId="{28A1D259-140D-618B-2FE6-0F59BBBC489B}"/>
          </ac:spMkLst>
        </pc:spChg>
      </pc:sldChg>
      <pc:sldChg chg="add">
        <pc:chgData name="Liis Lille" userId="f9d5d31895480ca9" providerId="LiveId" clId="{6A0207A4-523B-4CF1-8966-98BFAA34D7F9}" dt="2026-05-07T06:53:40.535" v="544" actId="2890"/>
        <pc:sldMkLst>
          <pc:docMk/>
          <pc:sldMk cId="520437405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448BA-80E0-4663-93F4-AA5A8B290F24}" type="datetimeFigureOut">
              <a:rPr lang="et-EE" smtClean="0"/>
              <a:t>07.05.2026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B1F43-75FE-4A8D-A207-229085B1FE77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8860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forest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species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sustainable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forest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biodiversity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carbon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environmental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field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inventories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time-consuming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scalable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cost-effective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forest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Sentinel-2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satellite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imagery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temporal and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spectral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suitable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detecting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species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spectral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environmental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elevation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soil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characteristics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species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t-E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</a:t>
            </a:r>
            <a:r>
              <a:rPr lang="et-E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B1F43-75FE-4A8D-A207-229085B1FE77}" type="slidenum">
              <a:rPr lang="et-EE" smtClean="0"/>
              <a:t>2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47214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5">
            <a:extLst>
              <a:ext uri="{FF2B5EF4-FFF2-40B4-BE49-F238E27FC236}">
                <a16:creationId xmlns:a16="http://schemas.microsoft.com/office/drawing/2014/main" id="{6230FFC8-2B8F-4F6E-CB4C-C17E5F17D5CE}"/>
              </a:ext>
            </a:extLst>
          </p:cNvPr>
          <p:cNvGrpSpPr/>
          <p:nvPr/>
        </p:nvGrpSpPr>
        <p:grpSpPr>
          <a:xfrm>
            <a:off x="-75067" y="-470653"/>
            <a:ext cx="18516601" cy="2872755"/>
            <a:chOff x="0" y="-123825"/>
            <a:chExt cx="4928589" cy="73634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6A4CB02-5AB0-E887-4733-6778472271D3}"/>
                </a:ext>
              </a:extLst>
            </p:cNvPr>
            <p:cNvSpPr/>
            <p:nvPr/>
          </p:nvSpPr>
          <p:spPr>
            <a:xfrm>
              <a:off x="0" y="-3516"/>
              <a:ext cx="4928589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D4341F5B-F674-B82D-7FC0-A61E7C68E425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>
            <a:off x="10457688" y="-15000"/>
            <a:ext cx="7983846" cy="10302000"/>
          </a:xfrm>
          <a:custGeom>
            <a:avLst/>
            <a:gdLst/>
            <a:ahLst/>
            <a:cxnLst/>
            <a:rect l="l" t="t" r="r" b="b"/>
            <a:pathLst>
              <a:path w="8184661" h="10567260">
                <a:moveTo>
                  <a:pt x="0" y="0"/>
                </a:moveTo>
                <a:lnTo>
                  <a:pt x="8184661" y="0"/>
                </a:lnTo>
                <a:lnTo>
                  <a:pt x="8184661" y="10567260"/>
                </a:lnTo>
                <a:lnTo>
                  <a:pt x="0" y="10567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681" r="-562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90600" y="3124719"/>
            <a:ext cx="8648700" cy="1928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3600" dirty="0">
                <a:latin typeface="Amasis MT Pro" panose="02040504050005020304" pitchFamily="18" charset="0"/>
              </a:rPr>
              <a:t>Tree Species Mapping Using Sentinel-2 Time Series and Machine Learning</a:t>
            </a:r>
            <a:endParaRPr lang="en-US" sz="3600" dirty="0">
              <a:latin typeface="Amasis MT Pro" panose="02040504050005020304" pitchFamily="18" charset="0"/>
              <a:sym typeface="Agrandir Wid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CE920-4A05-C7D0-9980-1E6C4A88FE28}"/>
              </a:ext>
            </a:extLst>
          </p:cNvPr>
          <p:cNvSpPr txBox="1"/>
          <p:nvPr/>
        </p:nvSpPr>
        <p:spPr>
          <a:xfrm>
            <a:off x="4345685" y="5776454"/>
            <a:ext cx="2438400" cy="98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00"/>
              </a:lnSpc>
            </a:pPr>
            <a:r>
              <a:rPr lang="fi-FI" sz="3600" dirty="0">
                <a:latin typeface="Amasis MT Pro" panose="02040504050005020304" pitchFamily="18" charset="0"/>
              </a:rPr>
              <a:t>Liis Lille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C260B-5866-F35E-7348-A99541891482}"/>
              </a:ext>
            </a:extLst>
          </p:cNvPr>
          <p:cNvSpPr txBox="1"/>
          <p:nvPr/>
        </p:nvSpPr>
        <p:spPr>
          <a:xfrm>
            <a:off x="4345685" y="80391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latin typeface="Amasis MT Pro" panose="02040504050005020304" pitchFamily="18" charset="0"/>
            </a:endParaRPr>
          </a:p>
          <a:p>
            <a:pPr algn="ctr"/>
            <a:r>
              <a:rPr lang="en-US" dirty="0">
                <a:latin typeface="Amasis MT Pro" panose="02040504050005020304" pitchFamily="18" charset="0"/>
              </a:rPr>
              <a:t>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241C9-382E-7091-39AB-01C966D5A0A1}"/>
              </a:ext>
            </a:extLst>
          </p:cNvPr>
          <p:cNvSpPr txBox="1"/>
          <p:nvPr/>
        </p:nvSpPr>
        <p:spPr>
          <a:xfrm>
            <a:off x="3051791" y="965725"/>
            <a:ext cx="41148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masis MT Pro" panose="02040504050005020304" pitchFamily="18" charset="0"/>
              </a:rPr>
              <a:t>TARTU ÜLIKOOL 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Amasis MT Pro" panose="02040504050005020304" pitchFamily="18" charset="0"/>
              </a:rPr>
              <a:t>Arvutiteaduste</a:t>
            </a:r>
            <a:r>
              <a:rPr lang="en-US" dirty="0">
                <a:solidFill>
                  <a:schemeClr val="bg1"/>
                </a:solidFill>
                <a:latin typeface="Amasis MT Pro" panose="020405040500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masis MT Pro" panose="02040504050005020304" pitchFamily="18" charset="0"/>
              </a:rPr>
              <a:t>instituut</a:t>
            </a:r>
            <a:r>
              <a:rPr lang="en-US" dirty="0">
                <a:solidFill>
                  <a:schemeClr val="bg1"/>
                </a:solidFill>
                <a:latin typeface="Amasis MT Pro" panose="02040504050005020304" pitchFamily="18" charset="0"/>
              </a:rPr>
              <a:t> 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Amasis MT Pro" panose="02040504050005020304" pitchFamily="18" charset="0"/>
              </a:rPr>
              <a:t>Infotehnoloogia</a:t>
            </a:r>
            <a:r>
              <a:rPr lang="en-US" dirty="0">
                <a:solidFill>
                  <a:schemeClr val="bg1"/>
                </a:solidFill>
                <a:latin typeface="Amasis MT Pro" panose="020405040500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masis MT Pro" panose="02040504050005020304" pitchFamily="18" charset="0"/>
              </a:rPr>
              <a:t>mitteinformaatikule</a:t>
            </a:r>
            <a:r>
              <a:rPr lang="en-US" dirty="0">
                <a:solidFill>
                  <a:schemeClr val="bg1"/>
                </a:solidFill>
                <a:latin typeface="Amasis MT Pro" panose="020405040500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DA86C-D8E5-082A-33C2-099ECA79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EB5A4C-51AA-56AD-F9F5-E89EC55B313D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F1BB46-A240-8C80-AC41-40DFD8D489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172D480-889D-A0E1-F5D3-B637CE7E5173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D4ADB0F-0EDB-12FA-25FC-4F48B58D02F6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1CCF294-9C46-6C0D-344E-F62BD921DD0F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2CA14F7-B457-FFBD-09CF-BB42A8D11A5D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08A1FB0-D2AC-749A-C66B-EAD5032708F9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77FE9FC-738F-95A3-7DB4-67697DE7C29D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50D48D4-D8E5-BC6D-6573-94D5E9AC18DA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10D566F-94F5-F5F1-DFEF-527FAFA7F6DE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5BA4454-F17E-D4A7-D919-40E18C8300EC}"/>
              </a:ext>
            </a:extLst>
          </p:cNvPr>
          <p:cNvSpPr txBox="1"/>
          <p:nvPr/>
        </p:nvSpPr>
        <p:spPr>
          <a:xfrm>
            <a:off x="1752600" y="893622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t-EE" sz="5400" dirty="0" err="1">
                <a:solidFill>
                  <a:schemeClr val="bg1"/>
                </a:solidFill>
                <a:latin typeface="Amasis MT Pro" panose="02040504050005020304" pitchFamily="18" charset="0"/>
              </a:rPr>
              <a:t>Background</a:t>
            </a:r>
            <a:endParaRPr lang="en-US" sz="5400" dirty="0">
              <a:solidFill>
                <a:schemeClr val="bg1"/>
              </a:solidFill>
              <a:latin typeface="Amasis MT Pro" panose="020405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8C868-BBBE-30BD-789C-D81A19F451EF}"/>
              </a:ext>
            </a:extLst>
          </p:cNvPr>
          <p:cNvSpPr txBox="1"/>
          <p:nvPr/>
        </p:nvSpPr>
        <p:spPr>
          <a:xfrm>
            <a:off x="1447800" y="3002293"/>
            <a:ext cx="1266899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Amasis MT Pro" panose="020405040500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Accurate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forest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tree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mapping</a:t>
            </a:r>
            <a:endParaRPr lang="en-US" sz="2800" dirty="0">
              <a:latin typeface="Amasis MT Pro" panose="02040504050005020304" pitchFamily="18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sustainable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forest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management</a:t>
            </a:r>
            <a:endParaRPr lang="en-US" sz="2800" dirty="0">
              <a:latin typeface="Amasis MT Pro" panose="02040504050005020304" pitchFamily="18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biodiversity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monitoring</a:t>
            </a:r>
            <a:endParaRPr lang="en-US" sz="2800" dirty="0">
              <a:latin typeface="Amasis MT Pro" panose="02040504050005020304" pitchFamily="18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carbon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accounting</a:t>
            </a:r>
            <a:endParaRPr lang="en-US" sz="2800" dirty="0">
              <a:latin typeface="Amasis MT Pro" panose="02040504050005020304" pitchFamily="18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environmental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reporting</a:t>
            </a:r>
            <a:br>
              <a:rPr lang="en-US" sz="2800" dirty="0">
                <a:latin typeface="Amasis MT Pro" panose="02040504050005020304" pitchFamily="18" charset="0"/>
              </a:rPr>
            </a:br>
            <a:endParaRPr lang="et-EE" sz="2800" dirty="0">
              <a:latin typeface="Amasis MT Pro" panose="020405040500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Remote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sensing</a:t>
            </a:r>
            <a:r>
              <a:rPr lang="en-US" sz="2800" dirty="0">
                <a:latin typeface="Amasis MT Pro" panose="02040504050005020304" pitchFamily="18" charset="0"/>
              </a:rPr>
              <a:t> with machine learning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provides</a:t>
            </a:r>
            <a:r>
              <a:rPr lang="et-EE" sz="2800" dirty="0">
                <a:latin typeface="Amasis MT Pro" panose="02040504050005020304" pitchFamily="18" charset="0"/>
              </a:rPr>
              <a:t> a </a:t>
            </a:r>
            <a:r>
              <a:rPr lang="et-EE" sz="2800" dirty="0" err="1">
                <a:latin typeface="Amasis MT Pro" panose="02040504050005020304" pitchFamily="18" charset="0"/>
              </a:rPr>
              <a:t>scalable</a:t>
            </a:r>
            <a:r>
              <a:rPr lang="et-EE" sz="2800" dirty="0">
                <a:latin typeface="Amasis MT Pro" panose="02040504050005020304" pitchFamily="18" charset="0"/>
              </a:rPr>
              <a:t> and </a:t>
            </a:r>
            <a:r>
              <a:rPr lang="et-EE" sz="2800" dirty="0" err="1">
                <a:latin typeface="Amasis MT Pro" panose="02040504050005020304" pitchFamily="18" charset="0"/>
              </a:rPr>
              <a:t>cost-effective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alternative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forest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monitoring</a:t>
            </a:r>
            <a:br>
              <a:rPr lang="en-US" sz="2800" dirty="0">
                <a:latin typeface="Amasis MT Pro" panose="02040504050005020304" pitchFamily="18" charset="0"/>
              </a:rPr>
            </a:br>
            <a:endParaRPr lang="et-EE" sz="2800" dirty="0">
              <a:latin typeface="Amasis MT Pro" panose="020405040500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t-EE" sz="2800" dirty="0">
                <a:latin typeface="Amasis MT Pro" panose="02040504050005020304" pitchFamily="18" charset="0"/>
              </a:rPr>
              <a:t>Sentinel-2 </a:t>
            </a:r>
            <a:r>
              <a:rPr lang="et-EE" sz="2800" dirty="0" err="1">
                <a:latin typeface="Amasis MT Pro" panose="02040504050005020304" pitchFamily="18" charset="0"/>
              </a:rPr>
              <a:t>satellite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imagery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offers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high</a:t>
            </a:r>
            <a:r>
              <a:rPr lang="et-EE" sz="2800" dirty="0">
                <a:latin typeface="Amasis MT Pro" panose="02040504050005020304" pitchFamily="18" charset="0"/>
              </a:rPr>
              <a:t> temporal and </a:t>
            </a:r>
            <a:r>
              <a:rPr lang="et-EE" sz="2800" dirty="0" err="1">
                <a:latin typeface="Amasis MT Pro" panose="02040504050005020304" pitchFamily="18" charset="0"/>
              </a:rPr>
              <a:t>spectral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resolution</a:t>
            </a:r>
            <a:br>
              <a:rPr lang="en-US" sz="2800" dirty="0">
                <a:latin typeface="Amasis MT Pro" panose="02040504050005020304" pitchFamily="18" charset="0"/>
              </a:rPr>
            </a:br>
            <a:endParaRPr lang="et-EE" sz="2800" dirty="0">
              <a:latin typeface="Amasis MT Pro" panose="020405040500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2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/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D75D4E7-2DA6-9C49-917D-CE7C5873822B}"/>
              </a:ext>
            </a:extLst>
          </p:cNvPr>
          <p:cNvSpPr txBox="1"/>
          <p:nvPr/>
        </p:nvSpPr>
        <p:spPr>
          <a:xfrm>
            <a:off x="1828800" y="733169"/>
            <a:ext cx="10439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t-EE" sz="5400" dirty="0" err="1">
                <a:solidFill>
                  <a:schemeClr val="bg1"/>
                </a:solidFill>
                <a:latin typeface="Amasis MT Pro" panose="02040504050005020304" pitchFamily="18" charset="0"/>
              </a:rPr>
              <a:t>Objective</a:t>
            </a:r>
            <a:r>
              <a:rPr lang="et-EE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 / Research </a:t>
            </a:r>
            <a:r>
              <a:rPr lang="et-EE" sz="5400" dirty="0" err="1">
                <a:solidFill>
                  <a:schemeClr val="bg1"/>
                </a:solidFill>
                <a:latin typeface="Amasis MT Pro" panose="02040504050005020304" pitchFamily="18" charset="0"/>
              </a:rPr>
              <a:t>Question</a:t>
            </a:r>
            <a:endParaRPr lang="et-EE" sz="54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DE99A-8539-7DEA-8809-2DBE6AD419E3}"/>
              </a:ext>
            </a:extLst>
          </p:cNvPr>
          <p:cNvSpPr txBox="1"/>
          <p:nvPr/>
        </p:nvSpPr>
        <p:spPr>
          <a:xfrm>
            <a:off x="1336735" y="3390900"/>
            <a:ext cx="13258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t-EE" sz="2800" b="1" dirty="0" err="1">
                <a:latin typeface="Amasis MT Pro" panose="02040504050005020304" pitchFamily="18" charset="0"/>
              </a:rPr>
              <a:t>Can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multi</a:t>
            </a:r>
            <a:r>
              <a:rPr lang="et-EE" sz="2800" b="1" dirty="0">
                <a:latin typeface="Amasis MT Pro" panose="02040504050005020304" pitchFamily="18" charset="0"/>
              </a:rPr>
              <a:t>-temporal Sentinel-2 </a:t>
            </a:r>
            <a:r>
              <a:rPr lang="et-EE" sz="2800" b="1" dirty="0" err="1">
                <a:latin typeface="Amasis MT Pro" panose="02040504050005020304" pitchFamily="18" charset="0"/>
              </a:rPr>
              <a:t>data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combined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with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elevation</a:t>
            </a:r>
            <a:r>
              <a:rPr lang="et-EE" sz="2800" b="1" dirty="0">
                <a:latin typeface="Amasis MT Pro" panose="02040504050005020304" pitchFamily="18" charset="0"/>
              </a:rPr>
              <a:t> and soil </a:t>
            </a:r>
            <a:r>
              <a:rPr lang="et-EE" sz="2800" b="1" dirty="0" err="1">
                <a:latin typeface="Amasis MT Pro" panose="02040504050005020304" pitchFamily="18" charset="0"/>
              </a:rPr>
              <a:t>features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improve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forest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tree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species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classification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accuracy</a:t>
            </a:r>
            <a:r>
              <a:rPr lang="et-EE" sz="2800" b="1" dirty="0">
                <a:latin typeface="Amasis MT Pro" panose="02040504050005020304" pitchFamily="18" charset="0"/>
              </a:rPr>
              <a:t> in Estonian </a:t>
            </a:r>
            <a:r>
              <a:rPr lang="et-EE" sz="2800" b="1" dirty="0" err="1">
                <a:latin typeface="Amasis MT Pro" panose="02040504050005020304" pitchFamily="18" charset="0"/>
              </a:rPr>
              <a:t>forests</a:t>
            </a:r>
            <a:r>
              <a:rPr lang="et-EE" sz="2800" b="1" dirty="0">
                <a:latin typeface="Amasis MT Pro" panose="02040504050005020304" pitchFamily="18" charset="0"/>
              </a:rPr>
              <a:t>?</a:t>
            </a:r>
            <a:endParaRPr lang="en-US" sz="2800" b="1" dirty="0">
              <a:latin typeface="Amasis MT Pro" panose="02040504050005020304" pitchFamily="18" charset="0"/>
            </a:endParaRPr>
          </a:p>
          <a:p>
            <a:endParaRPr lang="et-EE" sz="2800" dirty="0">
              <a:latin typeface="Amasis MT Pro" panose="02040504050005020304" pitchFamily="18" charset="0"/>
            </a:endParaRPr>
          </a:p>
          <a:p>
            <a:r>
              <a:rPr lang="et-EE" sz="2800" dirty="0">
                <a:latin typeface="Amasis MT Pro" panose="02040504050005020304" pitchFamily="18" charset="0"/>
              </a:rPr>
              <a:t>The </a:t>
            </a:r>
            <a:r>
              <a:rPr lang="et-EE" sz="2800" dirty="0" err="1">
                <a:latin typeface="Amasis MT Pro" panose="02040504050005020304" pitchFamily="18" charset="0"/>
              </a:rPr>
              <a:t>project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focused</a:t>
            </a:r>
            <a:r>
              <a:rPr lang="et-EE" sz="2800" dirty="0">
                <a:latin typeface="Amasis MT Pro" panose="02040504050005020304" pitchFamily="18" charset="0"/>
              </a:rPr>
              <a:t> on </a:t>
            </a:r>
            <a:r>
              <a:rPr lang="et-EE" sz="2800" dirty="0" err="1">
                <a:latin typeface="Amasis MT Pro" panose="02040504050005020304" pitchFamily="18" charset="0"/>
              </a:rPr>
              <a:t>classifying</a:t>
            </a:r>
            <a:r>
              <a:rPr lang="et-EE" sz="2800" dirty="0">
                <a:latin typeface="Amasis MT Pro" panose="02040504050005020304" pitchFamily="18" charset="0"/>
              </a:rPr>
              <a:t> dominant Estonian </a:t>
            </a:r>
            <a:r>
              <a:rPr lang="et-EE" sz="2800" dirty="0" err="1">
                <a:latin typeface="Amasis MT Pro" panose="02040504050005020304" pitchFamily="18" charset="0"/>
              </a:rPr>
              <a:t>forest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sz="2800" dirty="0">
                <a:latin typeface="Amasis MT Pro" panose="02040504050005020304" pitchFamily="18" charset="0"/>
              </a:rPr>
              <a:t>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Birch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Pine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Spruce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>
                <a:latin typeface="Amasis MT Pro" panose="02040504050005020304" pitchFamily="18" charset="0"/>
              </a:rPr>
              <a:t>Grey </a:t>
            </a:r>
            <a:r>
              <a:rPr lang="et-EE" sz="2800" dirty="0" err="1">
                <a:latin typeface="Amasis MT Pro" panose="02040504050005020304" pitchFamily="18" charset="0"/>
              </a:rPr>
              <a:t>alder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>
                <a:latin typeface="Amasis MT Pro" panose="02040504050005020304" pitchFamily="18" charset="0"/>
              </a:rPr>
              <a:t>Black </a:t>
            </a:r>
            <a:r>
              <a:rPr lang="et-EE" sz="2800" dirty="0" err="1">
                <a:latin typeface="Amasis MT Pro" panose="02040504050005020304" pitchFamily="18" charset="0"/>
              </a:rPr>
              <a:t>alder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Aspen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Other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74F24-420B-393E-8004-188F6229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7396A0-F60C-91D3-F333-7206FDD880B7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15E2C3-3B1B-EAE9-6465-40D2B83479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D840CA-3409-9681-B7CF-5FF383EF322A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254F159-51BB-DE88-1A7F-7B8DA998CA20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A661CDB-1576-5C82-626E-970E93B041D7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584D2A7-6588-BD6E-BFBB-E54D5BF96334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B40B457-21A4-4E6B-C788-86DDAE8C0A47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1446D79C-4525-D7B7-4907-56D009BAD926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ACDB7DF-C02F-98F3-7FC9-4820E12CA13A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37A56E8-82C4-B683-27C2-B3BADE3CA7CA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D040335-123C-3B5F-FDE0-76D2A69464D3}"/>
              </a:ext>
            </a:extLst>
          </p:cNvPr>
          <p:cNvSpPr txBox="1"/>
          <p:nvPr/>
        </p:nvSpPr>
        <p:spPr>
          <a:xfrm>
            <a:off x="1277397" y="939574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Datasets and </a:t>
            </a:r>
            <a:r>
              <a:rPr lang="et-EE" sz="5400" dirty="0" err="1">
                <a:solidFill>
                  <a:schemeClr val="bg1"/>
                </a:solidFill>
                <a:latin typeface="Amasis MT Pro" panose="02040504050005020304" pitchFamily="18" charset="0"/>
              </a:rPr>
              <a:t>Methodology</a:t>
            </a:r>
            <a:endParaRPr lang="et-EE" sz="5400" dirty="0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endParaRPr lang="en-US" sz="5400" dirty="0">
              <a:solidFill>
                <a:schemeClr val="bg1"/>
              </a:solidFill>
              <a:latin typeface="Amasis MT Pro" panose="020405040500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D27C39-A881-A9A2-A465-5DA16B524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87" y="3123583"/>
            <a:ext cx="4133693" cy="40398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058CE53-6EFE-018F-076A-6FFE8E91110D}"/>
              </a:ext>
            </a:extLst>
          </p:cNvPr>
          <p:cNvSpPr/>
          <p:nvPr/>
        </p:nvSpPr>
        <p:spPr>
          <a:xfrm>
            <a:off x="6831389" y="3129102"/>
            <a:ext cx="3341417" cy="52379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ML</a:t>
            </a:r>
          </a:p>
          <a:p>
            <a:r>
              <a:rPr lang="en-US" sz="2000" b="1" dirty="0"/>
              <a:t>Machine Learning model: Random Forest</a:t>
            </a:r>
          </a:p>
          <a:p>
            <a:endParaRPr lang="en-US" sz="2000" b="1" dirty="0"/>
          </a:p>
          <a:p>
            <a:r>
              <a:rPr lang="en-US" sz="2000" b="1" dirty="0"/>
              <a:t>Datasets</a:t>
            </a:r>
            <a:r>
              <a:rPr lang="et-EE" sz="2000" b="1" dirty="0"/>
              <a:t>:</a:t>
            </a:r>
            <a:endParaRPr lang="et-EE" sz="2000" dirty="0"/>
          </a:p>
          <a:p>
            <a:r>
              <a:rPr lang="en-US" sz="2000" dirty="0"/>
              <a:t>Forest parcels (Forest Registry)</a:t>
            </a:r>
            <a:endParaRPr lang="et-EE" sz="2000" dirty="0"/>
          </a:p>
          <a:p>
            <a:r>
              <a:rPr lang="et-EE" sz="2000" dirty="0"/>
              <a:t>Sentinel-2 </a:t>
            </a:r>
            <a:r>
              <a:rPr lang="en-US" sz="2000" dirty="0"/>
              <a:t>images</a:t>
            </a:r>
            <a:r>
              <a:rPr lang="et-EE" sz="2000" dirty="0"/>
              <a:t> (2025) </a:t>
            </a:r>
          </a:p>
          <a:p>
            <a:r>
              <a:rPr lang="en-US" sz="2000" dirty="0"/>
              <a:t>Forest height map</a:t>
            </a:r>
            <a:endParaRPr lang="et-EE" sz="2000" dirty="0"/>
          </a:p>
          <a:p>
            <a:r>
              <a:rPr lang="en-US" sz="2000" dirty="0"/>
              <a:t>Soil map</a:t>
            </a:r>
            <a:r>
              <a:rPr lang="et-EE" sz="2000" b="1" dirty="0"/>
              <a:t>:</a:t>
            </a:r>
            <a:endParaRPr lang="en-US" sz="2000" b="1" dirty="0"/>
          </a:p>
          <a:p>
            <a:r>
              <a:rPr lang="en-US" sz="2000" b="1" dirty="0"/>
              <a:t>Data types:</a:t>
            </a:r>
            <a:endParaRPr lang="et-EE" sz="2000" dirty="0"/>
          </a:p>
          <a:p>
            <a:r>
              <a:rPr lang="en-US" sz="2000" dirty="0"/>
              <a:t>S2 time-series</a:t>
            </a:r>
            <a:r>
              <a:rPr lang="et-EE" sz="2000" dirty="0"/>
              <a:t> (10-</a:t>
            </a:r>
            <a:r>
              <a:rPr lang="en-US" sz="2000" dirty="0"/>
              <a:t>day interval</a:t>
            </a:r>
            <a:r>
              <a:rPr lang="et-EE" sz="2000" dirty="0"/>
              <a:t>) </a:t>
            </a:r>
          </a:p>
          <a:p>
            <a:r>
              <a:rPr lang="et-EE" sz="2000" dirty="0"/>
              <a:t>raster + </a:t>
            </a:r>
            <a:r>
              <a:rPr lang="et-EE" sz="2000" dirty="0" err="1"/>
              <a:t>ve</a:t>
            </a:r>
            <a:r>
              <a:rPr lang="en-US" sz="2000" dirty="0"/>
              <a:t>c</a:t>
            </a:r>
            <a:r>
              <a:rPr lang="et-EE" sz="2000" dirty="0" err="1"/>
              <a:t>tor</a:t>
            </a:r>
            <a:endParaRPr lang="et-EE" sz="2000" dirty="0"/>
          </a:p>
        </p:txBody>
      </p:sp>
      <p:pic>
        <p:nvPicPr>
          <p:cNvPr id="21" name="Graphic 20" descr="Database outline">
            <a:extLst>
              <a:ext uri="{FF2B5EF4-FFF2-40B4-BE49-F238E27FC236}">
                <a16:creationId xmlns:a16="http://schemas.microsoft.com/office/drawing/2014/main" id="{57FDA52D-3EE2-D8F3-2CCA-F7373C271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6856" y="3117954"/>
            <a:ext cx="987682" cy="9876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D33D566-3473-DCE3-0C4B-0CD01A635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580" y="3493460"/>
            <a:ext cx="4133693" cy="40398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11FF02E-F789-F0F1-7E53-9E9D21D2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734" y="3872407"/>
            <a:ext cx="4133693" cy="403983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895CC93-EFA3-6515-030A-60FB4D80C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888" y="4227375"/>
            <a:ext cx="4133693" cy="403983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AB19A7-DA05-659B-D5D2-F5EC8A874D3D}"/>
              </a:ext>
            </a:extLst>
          </p:cNvPr>
          <p:cNvSpPr txBox="1"/>
          <p:nvPr/>
        </p:nvSpPr>
        <p:spPr>
          <a:xfrm>
            <a:off x="1277397" y="8742701"/>
            <a:ext cx="466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Sentinel-2 satellite images</a:t>
            </a:r>
            <a:endParaRPr lang="et-E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3EC5D-6A06-B875-3800-00B1744B59D5}"/>
              </a:ext>
            </a:extLst>
          </p:cNvPr>
          <p:cNvSpPr txBox="1"/>
          <p:nvPr/>
        </p:nvSpPr>
        <p:spPr>
          <a:xfrm>
            <a:off x="7308470" y="8764916"/>
            <a:ext cx="343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Datasets +ML</a:t>
            </a:r>
            <a:endParaRPr lang="et-E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E33D3E-3440-EB93-E7FD-8C5AACEAE32E}"/>
              </a:ext>
            </a:extLst>
          </p:cNvPr>
          <p:cNvSpPr txBox="1"/>
          <p:nvPr/>
        </p:nvSpPr>
        <p:spPr>
          <a:xfrm>
            <a:off x="12115800" y="8742701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Pixel-based tree species map</a:t>
            </a:r>
            <a:endParaRPr lang="et-EE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F917DDC-F790-FE26-1EBA-3CDD092F6934}"/>
              </a:ext>
            </a:extLst>
          </p:cNvPr>
          <p:cNvSpPr/>
          <p:nvPr/>
        </p:nvSpPr>
        <p:spPr>
          <a:xfrm>
            <a:off x="4908783" y="5869171"/>
            <a:ext cx="1848945" cy="8513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18C9C9A-804E-87FB-1135-C2DAFB444FB5}"/>
              </a:ext>
            </a:extLst>
          </p:cNvPr>
          <p:cNvSpPr/>
          <p:nvPr/>
        </p:nvSpPr>
        <p:spPr>
          <a:xfrm>
            <a:off x="9981473" y="5821604"/>
            <a:ext cx="1848945" cy="8513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F29260-7244-35BC-B18C-B6A845BFD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7509" y="4105636"/>
            <a:ext cx="4229317" cy="41785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4B7462-659E-9C08-F4D8-EFFFD77D3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8581" y="3103289"/>
            <a:ext cx="1409772" cy="1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11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51A2-BCA9-1A0D-76FF-B645FACA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350693-8CCA-EBA3-560F-3705F063C066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B63866-380F-1452-09CF-142B07B9F5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F63EDBE-3BCA-93DA-9096-23912748F97B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8EBD045-44F2-DF10-901C-0FD687AEB831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4629DF-908E-B862-36EE-D50FA989FB1E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4549AF4-AB85-EBDD-FD87-1AFC87CB2ED9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387DE0C-C1FA-1B94-6DAF-806960574250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6F56C27-A0D1-1BDC-BBF2-E344ECA34EE9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D73F31C-E1DC-2E56-465D-46036009729C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791BEDE-94B4-A4EF-53C2-8E23F0A6DE85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51A661E-DD43-4280-D314-F654F4F6D3A3}"/>
              </a:ext>
            </a:extLst>
          </p:cNvPr>
          <p:cNvSpPr txBox="1"/>
          <p:nvPr/>
        </p:nvSpPr>
        <p:spPr>
          <a:xfrm>
            <a:off x="2209800" y="102211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Processing Steps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8A3B6-9DB8-828C-A498-E92158A216D4}"/>
              </a:ext>
            </a:extLst>
          </p:cNvPr>
          <p:cNvSpPr txBox="1"/>
          <p:nvPr/>
        </p:nvSpPr>
        <p:spPr>
          <a:xfrm>
            <a:off x="1886372" y="3199168"/>
            <a:ext cx="12420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Convert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time-series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data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from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long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format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to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wide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format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Merge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auxiliary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environmental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data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Handle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missing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values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using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median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imputation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Encode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categorical</a:t>
            </a:r>
            <a:r>
              <a:rPr lang="et-EE" sz="2800" dirty="0">
                <a:latin typeface="Amasis MT Pro" panose="02040504050005020304" pitchFamily="18" charset="0"/>
              </a:rPr>
              <a:t> soil </a:t>
            </a:r>
            <a:r>
              <a:rPr lang="et-EE" sz="2800" dirty="0" err="1">
                <a:latin typeface="Amasis MT Pro" panose="02040504050005020304" pitchFamily="18" charset="0"/>
              </a:rPr>
              <a:t>variables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Train</a:t>
            </a:r>
            <a:r>
              <a:rPr lang="et-EE" sz="2800" dirty="0">
                <a:latin typeface="Amasis MT Pro" panose="02040504050005020304" pitchFamily="18" charset="0"/>
              </a:rPr>
              <a:t> and </a:t>
            </a:r>
            <a:r>
              <a:rPr lang="et-EE" sz="2800" dirty="0" err="1">
                <a:latin typeface="Amasis MT Pro" panose="02040504050005020304" pitchFamily="18" charset="0"/>
              </a:rPr>
              <a:t>validate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the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Random</a:t>
            </a:r>
            <a:r>
              <a:rPr lang="et-EE" sz="2800" dirty="0">
                <a:latin typeface="Amasis MT Pro" panose="02040504050005020304" pitchFamily="18" charset="0"/>
              </a:rPr>
              <a:t> Forest </a:t>
            </a:r>
            <a:r>
              <a:rPr lang="et-EE" sz="2800" dirty="0" err="1">
                <a:latin typeface="Amasis MT Pro" panose="02040504050005020304" pitchFamily="18" charset="0"/>
              </a:rPr>
              <a:t>model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Evaluate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performance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using</a:t>
            </a:r>
            <a:r>
              <a:rPr lang="et-EE" sz="2800" dirty="0">
                <a:latin typeface="Amasis MT Pro" panose="02040504050005020304" pitchFamily="18" charset="0"/>
              </a:rPr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Accuracy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Precision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Recall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t-EE" sz="2800" dirty="0">
                <a:latin typeface="Amasis MT Pro" panose="02040504050005020304" pitchFamily="18" charset="0"/>
              </a:rPr>
              <a:t>F1-score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Confusion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matrix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endParaRPr lang="en-US" sz="2800" b="1" dirty="0"/>
          </a:p>
          <a:p>
            <a:endParaRPr lang="et-EE" sz="2800" dirty="0"/>
          </a:p>
        </p:txBody>
      </p:sp>
    </p:spTree>
    <p:extLst>
      <p:ext uri="{BB962C8B-B14F-4D97-AF65-F5344CB8AC3E}">
        <p14:creationId xmlns:p14="http://schemas.microsoft.com/office/powerpoint/2010/main" val="11952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4016-0BA9-6AEF-3300-9F31AB7B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1E29A5-E5AA-ACA8-969C-992134206230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CFB7B6F-021E-BF5C-E5C5-4C952E994A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8BA9F2C-64B8-4779-07F0-C4BA76F2E4A7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95B9F50-D26F-028D-384D-1AF851825740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7F115E4-E8F8-8013-F94E-E7865ADC44BE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1D87A41-18B3-BA7A-9F51-930CEF3491E3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33A686D-F69D-33F1-93A5-ABFCB01ADEBF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DEE9F5D3-0E46-10EC-8DE6-169F35EB4217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C721BA4-CAA3-41C0-8FFA-2890CD6910B8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1AB68D9-33CD-C2DC-D3AA-545737D46298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373DBDC-63C3-7E6E-FE7D-C62C9A1D65D4}"/>
              </a:ext>
            </a:extLst>
          </p:cNvPr>
          <p:cNvSpPr txBox="1"/>
          <p:nvPr/>
        </p:nvSpPr>
        <p:spPr>
          <a:xfrm>
            <a:off x="2209800" y="102211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Results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D37C9-B9CF-3FC9-0034-97177B5F032A}"/>
              </a:ext>
            </a:extLst>
          </p:cNvPr>
          <p:cNvSpPr txBox="1"/>
          <p:nvPr/>
        </p:nvSpPr>
        <p:spPr>
          <a:xfrm>
            <a:off x="1886371" y="3199168"/>
            <a:ext cx="13045253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t-EE" sz="2800" b="1" dirty="0" err="1">
                <a:latin typeface="Amasis MT Pro" panose="02040504050005020304" pitchFamily="18" charset="0"/>
              </a:rPr>
              <a:t>Overall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Performance</a:t>
            </a:r>
            <a:endParaRPr lang="et-EE" sz="2800" b="1" dirty="0">
              <a:latin typeface="Amasis MT Pro" panose="02040504050005020304" pitchFamily="18" charset="0"/>
            </a:endParaRPr>
          </a:p>
          <a:p>
            <a:pPr lvl="0"/>
            <a:r>
              <a:rPr lang="et-EE" sz="2800" dirty="0" err="1">
                <a:latin typeface="Amasis MT Pro" panose="02040504050005020304" pitchFamily="18" charset="0"/>
              </a:rPr>
              <a:t>Validation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accuracy</a:t>
            </a:r>
            <a:r>
              <a:rPr lang="et-EE" sz="2800" dirty="0">
                <a:latin typeface="Amasis MT Pro" panose="02040504050005020304" pitchFamily="18" charset="0"/>
              </a:rPr>
              <a:t>: 82.8% </a:t>
            </a:r>
          </a:p>
          <a:p>
            <a:pPr lvl="0"/>
            <a:r>
              <a:rPr lang="et-EE" sz="2800" dirty="0">
                <a:latin typeface="Amasis MT Pro" panose="02040504050005020304" pitchFamily="18" charset="0"/>
              </a:rPr>
              <a:t>Test </a:t>
            </a:r>
            <a:r>
              <a:rPr lang="et-EE" sz="2800" dirty="0" err="1">
                <a:latin typeface="Amasis MT Pro" panose="02040504050005020304" pitchFamily="18" charset="0"/>
              </a:rPr>
              <a:t>accuracy</a:t>
            </a:r>
            <a:r>
              <a:rPr lang="et-EE" sz="2800" dirty="0">
                <a:latin typeface="Amasis MT Pro" panose="02040504050005020304" pitchFamily="18" charset="0"/>
              </a:rPr>
              <a:t>: 80.1% </a:t>
            </a:r>
            <a:endParaRPr lang="en-US" sz="2800" dirty="0">
              <a:latin typeface="Amasis MT Pro" panose="02040504050005020304" pitchFamily="18" charset="0"/>
            </a:endParaRPr>
          </a:p>
          <a:p>
            <a:pPr lvl="0"/>
            <a:endParaRPr lang="et-EE" sz="2800" dirty="0">
              <a:latin typeface="Amasis MT Pro" panose="02040504050005020304" pitchFamily="18" charset="0"/>
            </a:endParaRPr>
          </a:p>
          <a:p>
            <a:r>
              <a:rPr lang="et-EE" sz="2800" dirty="0">
                <a:latin typeface="Amasis MT Pro" panose="02040504050005020304" pitchFamily="18" charset="0"/>
              </a:rPr>
              <a:t>The </a:t>
            </a:r>
            <a:r>
              <a:rPr lang="et-EE" sz="2800" dirty="0" err="1">
                <a:latin typeface="Amasis MT Pro" panose="02040504050005020304" pitchFamily="18" charset="0"/>
              </a:rPr>
              <a:t>model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performed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well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</a:t>
            </a:r>
            <a:r>
              <a:rPr lang="et-EE" sz="2800" dirty="0">
                <a:latin typeface="Amasis MT Pro" panose="02040504050005020304" pitchFamily="18" charset="0"/>
              </a:rPr>
              <a:t> dominant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sz="2800" dirty="0">
                <a:latin typeface="Amasis MT Pro" panose="02040504050005020304" pitchFamily="18" charset="0"/>
              </a:rPr>
              <a:t>, </a:t>
            </a:r>
            <a:r>
              <a:rPr lang="et-EE" sz="2800" dirty="0" err="1">
                <a:latin typeface="Amasis MT Pro" panose="02040504050005020304" pitchFamily="18" charset="0"/>
              </a:rPr>
              <a:t>especially</a:t>
            </a:r>
            <a:r>
              <a:rPr lang="et-EE" sz="2800" dirty="0">
                <a:latin typeface="Amasis MT Pro" panose="02040504050005020304" pitchFamily="18" charset="0"/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Birch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Pine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r>
              <a:rPr lang="et-EE" sz="2800" b="1" dirty="0" err="1">
                <a:latin typeface="Amasis MT Pro" panose="02040504050005020304" pitchFamily="18" charset="0"/>
              </a:rPr>
              <a:t>Key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Findings</a:t>
            </a:r>
            <a:endParaRPr lang="en-US" sz="2800" b="1" dirty="0">
              <a:latin typeface="Amasis MT Pro" panose="02040504050005020304" pitchFamily="18" charset="0"/>
            </a:endParaRPr>
          </a:p>
          <a:p>
            <a:endParaRPr lang="et-EE" sz="2800" b="1" dirty="0">
              <a:latin typeface="Amasis MT Pro" panose="02040504050005020304" pitchFamily="18" charset="0"/>
            </a:endParaRPr>
          </a:p>
          <a:p>
            <a:pPr lvl="0"/>
            <a:r>
              <a:rPr lang="et-EE" sz="2800" dirty="0">
                <a:latin typeface="Amasis MT Pro" panose="02040504050005020304" pitchFamily="18" charset="0"/>
              </a:rPr>
              <a:t>Red-</a:t>
            </a:r>
            <a:r>
              <a:rPr lang="et-EE" sz="2800" dirty="0" err="1">
                <a:latin typeface="Amasis MT Pro" panose="02040504050005020304" pitchFamily="18" charset="0"/>
              </a:rPr>
              <a:t>edge</a:t>
            </a:r>
            <a:r>
              <a:rPr lang="et-EE" sz="2800" dirty="0">
                <a:latin typeface="Amasis MT Pro" panose="02040504050005020304" pitchFamily="18" charset="0"/>
              </a:rPr>
              <a:t> and </a:t>
            </a:r>
            <a:r>
              <a:rPr lang="et-EE" sz="2800" dirty="0" err="1">
                <a:latin typeface="Amasis MT Pro" panose="02040504050005020304" pitchFamily="18" charset="0"/>
              </a:rPr>
              <a:t>moisture-sensitive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indices</a:t>
            </a:r>
            <a:r>
              <a:rPr lang="et-EE" sz="2800" dirty="0">
                <a:latin typeface="Amasis MT Pro" panose="02040504050005020304" pitchFamily="18" charset="0"/>
              </a:rPr>
              <a:t> (NDRE, NDMI) </a:t>
            </a:r>
            <a:r>
              <a:rPr lang="et-EE" sz="2800" dirty="0" err="1">
                <a:latin typeface="Amasis MT Pro" panose="02040504050005020304" pitchFamily="18" charset="0"/>
              </a:rPr>
              <a:t>were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among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the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most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important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predictors</a:t>
            </a:r>
            <a:r>
              <a:rPr lang="et-EE" sz="2800" dirty="0">
                <a:latin typeface="Amasis MT Pro" panose="02040504050005020304" pitchFamily="18" charset="0"/>
              </a:rPr>
              <a:t>. </a:t>
            </a:r>
          </a:p>
          <a:p>
            <a:pPr lvl="0"/>
            <a:r>
              <a:rPr lang="et-EE" sz="2800" dirty="0">
                <a:latin typeface="Amasis MT Pro" panose="02040504050005020304" pitchFamily="18" charset="0"/>
              </a:rPr>
              <a:t>September–</a:t>
            </a:r>
            <a:r>
              <a:rPr lang="et-EE" sz="2800" dirty="0" err="1">
                <a:latin typeface="Amasis MT Pro" panose="02040504050005020304" pitchFamily="18" charset="0"/>
              </a:rPr>
              <a:t>October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observations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provided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strong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separability</a:t>
            </a:r>
            <a:r>
              <a:rPr lang="et-EE" sz="2800" dirty="0">
                <a:latin typeface="Amasis MT Pro" panose="02040504050005020304" pitchFamily="18" charset="0"/>
              </a:rPr>
              <a:t>. </a:t>
            </a:r>
          </a:p>
          <a:p>
            <a:pPr lvl="0"/>
            <a:r>
              <a:rPr lang="et-EE" sz="2800" dirty="0" err="1">
                <a:latin typeface="Amasis MT Pro" panose="02040504050005020304" pitchFamily="18" charset="0"/>
              </a:rPr>
              <a:t>Elevation</a:t>
            </a:r>
            <a:r>
              <a:rPr lang="et-EE" sz="2800" dirty="0">
                <a:latin typeface="Amasis MT Pro" panose="02040504050005020304" pitchFamily="18" charset="0"/>
              </a:rPr>
              <a:t> and soil </a:t>
            </a:r>
            <a:r>
              <a:rPr lang="et-EE" sz="2800" dirty="0" err="1">
                <a:latin typeface="Amasis MT Pro" panose="02040504050005020304" pitchFamily="18" charset="0"/>
              </a:rPr>
              <a:t>features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improved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classification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stability</a:t>
            </a:r>
            <a:r>
              <a:rPr lang="et-EE" sz="2800" dirty="0">
                <a:latin typeface="Amasis MT Pro" panose="02040504050005020304" pitchFamily="18" charset="0"/>
              </a:rPr>
              <a:t>. </a:t>
            </a:r>
          </a:p>
          <a:p>
            <a:pPr lvl="0"/>
            <a:r>
              <a:rPr lang="et-EE" sz="2800" dirty="0" err="1">
                <a:latin typeface="Amasis MT Pro" panose="02040504050005020304" pitchFamily="18" charset="0"/>
              </a:rPr>
              <a:t>Multi</a:t>
            </a:r>
            <a:r>
              <a:rPr lang="et-EE" sz="2800" dirty="0">
                <a:latin typeface="Amasis MT Pro" panose="02040504050005020304" pitchFamily="18" charset="0"/>
              </a:rPr>
              <a:t>-temporal </a:t>
            </a:r>
            <a:r>
              <a:rPr lang="et-EE" sz="2800" dirty="0" err="1">
                <a:latin typeface="Amasis MT Pro" panose="02040504050005020304" pitchFamily="18" charset="0"/>
              </a:rPr>
              <a:t>data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significantly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improved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classification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compared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to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single-date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imagery</a:t>
            </a:r>
            <a:r>
              <a:rPr lang="et-EE" sz="2800" dirty="0">
                <a:latin typeface="Amasis MT Pro" panose="02040504050005020304" pitchFamily="18" charset="0"/>
              </a:rPr>
              <a:t>. </a:t>
            </a:r>
          </a:p>
          <a:p>
            <a:endParaRPr lang="en-US" sz="2800" b="1" dirty="0"/>
          </a:p>
          <a:p>
            <a:endParaRPr lang="et-EE" sz="2800" dirty="0"/>
          </a:p>
        </p:txBody>
      </p:sp>
    </p:spTree>
    <p:extLst>
      <p:ext uri="{BB962C8B-B14F-4D97-AF65-F5344CB8AC3E}">
        <p14:creationId xmlns:p14="http://schemas.microsoft.com/office/powerpoint/2010/main" val="73379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03EC-C2E2-14AB-856B-A8AFAAC7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F8B6C2-D7BA-3219-9F1D-A81D271CF3B0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D49E22-2821-9A92-9AD6-3CC1F9297A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6915AD9-28A2-C2DD-DF0D-B68BFDACB61E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E808662-6238-2BDC-B6D9-B82E6B731B26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5886DB0-CC95-CF35-F032-C8143A129529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DC5E18B-55CA-5A8C-B081-6384A92F585C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2F9C990-0917-BE65-8F48-245A0D50733D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5D714F3-583F-A180-3807-75B7B99914D7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BF801C3-F91E-B05B-B407-9505B0C54A84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FF3F7C1-4C64-23E0-8C14-178145CC74D7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7B143D-202C-C99E-3DF5-62751795EC43}"/>
              </a:ext>
            </a:extLst>
          </p:cNvPr>
          <p:cNvSpPr txBox="1"/>
          <p:nvPr/>
        </p:nvSpPr>
        <p:spPr>
          <a:xfrm>
            <a:off x="2209800" y="102211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Results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A1D259-140D-618B-2FE6-0F59BBBC489B}"/>
              </a:ext>
            </a:extLst>
          </p:cNvPr>
          <p:cNvSpPr txBox="1"/>
          <p:nvPr/>
        </p:nvSpPr>
        <p:spPr>
          <a:xfrm>
            <a:off x="1886371" y="3199168"/>
            <a:ext cx="1304525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t-EE" sz="2800" b="1" dirty="0" err="1">
                <a:latin typeface="Amasis MT Pro" panose="02040504050005020304" pitchFamily="18" charset="0"/>
              </a:rPr>
              <a:t>Classification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Challenges</a:t>
            </a:r>
            <a:endParaRPr lang="et-EE" sz="2800" b="1" dirty="0">
              <a:latin typeface="Amasis MT Pro" panose="02040504050005020304" pitchFamily="18" charset="0"/>
            </a:endParaRPr>
          </a:p>
          <a:p>
            <a:endParaRPr lang="en-US" sz="2800" dirty="0">
              <a:latin typeface="Amasis MT Pro" panose="02040504050005020304" pitchFamily="18" charset="0"/>
            </a:endParaRPr>
          </a:p>
          <a:p>
            <a:endParaRPr lang="en-US" sz="2800" dirty="0">
              <a:latin typeface="Amasis MT Pro" panose="02040504050005020304" pitchFamily="18" charset="0"/>
            </a:endParaRPr>
          </a:p>
          <a:p>
            <a:r>
              <a:rPr lang="et-EE" sz="2800" dirty="0" err="1">
                <a:latin typeface="Amasis MT Pro" panose="02040504050005020304" pitchFamily="18" charset="0"/>
              </a:rPr>
              <a:t>Some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confusion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remained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between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ecologically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similar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sz="2800" dirty="0">
                <a:latin typeface="Amasis MT Pro" panose="02040504050005020304" pitchFamily="18" charset="0"/>
              </a:rPr>
              <a:t>:</a:t>
            </a:r>
          </a:p>
          <a:p>
            <a:pPr lvl="0"/>
            <a:r>
              <a:rPr lang="et-EE" sz="2800" dirty="0" err="1">
                <a:latin typeface="Amasis MT Pro" panose="02040504050005020304" pitchFamily="18" charset="0"/>
              </a:rPr>
              <a:t>Aspen</a:t>
            </a:r>
            <a:r>
              <a:rPr lang="et-EE" sz="2800" dirty="0">
                <a:latin typeface="Amasis MT Pro" panose="02040504050005020304" pitchFamily="18" charset="0"/>
              </a:rPr>
              <a:t> ↔ </a:t>
            </a:r>
            <a:r>
              <a:rPr lang="et-EE" sz="2800" dirty="0" err="1">
                <a:latin typeface="Amasis MT Pro" panose="02040504050005020304" pitchFamily="18" charset="0"/>
              </a:rPr>
              <a:t>Birch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lvl="0"/>
            <a:r>
              <a:rPr lang="et-EE" sz="2800" dirty="0" err="1">
                <a:latin typeface="Amasis MT Pro" panose="02040504050005020304" pitchFamily="18" charset="0"/>
              </a:rPr>
              <a:t>Spruce</a:t>
            </a:r>
            <a:r>
              <a:rPr lang="et-EE" sz="2800" dirty="0">
                <a:latin typeface="Amasis MT Pro" panose="02040504050005020304" pitchFamily="18" charset="0"/>
              </a:rPr>
              <a:t> ↔ </a:t>
            </a:r>
            <a:r>
              <a:rPr lang="et-EE" sz="2800" dirty="0" err="1">
                <a:latin typeface="Amasis MT Pro" panose="02040504050005020304" pitchFamily="18" charset="0"/>
              </a:rPr>
              <a:t>Pine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</a:p>
          <a:p>
            <a:pPr lvl="0"/>
            <a:r>
              <a:rPr lang="et-EE" sz="2800" dirty="0">
                <a:latin typeface="Amasis MT Pro" panose="02040504050005020304" pitchFamily="18" charset="0"/>
              </a:rPr>
              <a:t>Grey </a:t>
            </a:r>
            <a:r>
              <a:rPr lang="et-EE" sz="2800" dirty="0" err="1">
                <a:latin typeface="Amasis MT Pro" panose="02040504050005020304" pitchFamily="18" charset="0"/>
              </a:rPr>
              <a:t>alder</a:t>
            </a:r>
            <a:r>
              <a:rPr lang="et-EE" sz="2800" dirty="0">
                <a:latin typeface="Amasis MT Pro" panose="02040504050005020304" pitchFamily="18" charset="0"/>
              </a:rPr>
              <a:t> ↔ </a:t>
            </a:r>
            <a:r>
              <a:rPr lang="et-EE" sz="2800" dirty="0" err="1">
                <a:latin typeface="Amasis MT Pro" panose="02040504050005020304" pitchFamily="18" charset="0"/>
              </a:rPr>
              <a:t>Birch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endParaRPr lang="en-US" sz="2800" dirty="0">
              <a:latin typeface="Amasis MT Pro" panose="02040504050005020304" pitchFamily="18" charset="0"/>
            </a:endParaRPr>
          </a:p>
          <a:p>
            <a:pPr lvl="0"/>
            <a:endParaRPr lang="et-EE" sz="2800" dirty="0">
              <a:latin typeface="Amasis MT Pro" panose="02040504050005020304" pitchFamily="18" charset="0"/>
            </a:endParaRPr>
          </a:p>
          <a:p>
            <a:r>
              <a:rPr lang="et-EE" sz="2800" dirty="0" err="1">
                <a:latin typeface="Amasis MT Pro" panose="02040504050005020304" pitchFamily="18" charset="0"/>
              </a:rPr>
              <a:t>Minority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classes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such</a:t>
            </a:r>
            <a:r>
              <a:rPr lang="et-EE" sz="2800" dirty="0">
                <a:latin typeface="Amasis MT Pro" panose="02040504050005020304" pitchFamily="18" charset="0"/>
              </a:rPr>
              <a:t> as “</a:t>
            </a:r>
            <a:r>
              <a:rPr lang="et-EE" sz="2800" dirty="0" err="1">
                <a:latin typeface="Amasis MT Pro" panose="02040504050005020304" pitchFamily="18" charset="0"/>
              </a:rPr>
              <a:t>Other</a:t>
            </a:r>
            <a:r>
              <a:rPr lang="et-EE" sz="2800" dirty="0">
                <a:latin typeface="Amasis MT Pro" panose="02040504050005020304" pitchFamily="18" charset="0"/>
              </a:rPr>
              <a:t>” </a:t>
            </a:r>
            <a:r>
              <a:rPr lang="et-EE" sz="2800" dirty="0" err="1">
                <a:latin typeface="Amasis MT Pro" panose="02040504050005020304" pitchFamily="18" charset="0"/>
              </a:rPr>
              <a:t>were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difficult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to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classify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because</a:t>
            </a:r>
            <a:r>
              <a:rPr lang="et-EE" sz="2800" dirty="0">
                <a:latin typeface="Amasis MT Pro" panose="02040504050005020304" pitchFamily="18" charset="0"/>
              </a:rPr>
              <a:t> of </a:t>
            </a:r>
            <a:r>
              <a:rPr lang="et-EE" sz="2800" dirty="0" err="1">
                <a:latin typeface="Amasis MT Pro" panose="02040504050005020304" pitchFamily="18" charset="0"/>
              </a:rPr>
              <a:t>limited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training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samples</a:t>
            </a:r>
            <a:r>
              <a:rPr lang="et-EE" sz="2800" dirty="0">
                <a:latin typeface="Amasis MT Pro" panose="02040504050005020304" pitchFamily="18" charset="0"/>
              </a:rPr>
              <a:t>.</a:t>
            </a:r>
          </a:p>
          <a:p>
            <a:endParaRPr lang="en-US" sz="2800" b="1" dirty="0"/>
          </a:p>
          <a:p>
            <a:endParaRPr lang="et-EE" sz="2800" dirty="0"/>
          </a:p>
        </p:txBody>
      </p:sp>
    </p:spTree>
    <p:extLst>
      <p:ext uri="{BB962C8B-B14F-4D97-AF65-F5344CB8AC3E}">
        <p14:creationId xmlns:p14="http://schemas.microsoft.com/office/powerpoint/2010/main" val="295905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4946-DF8C-40E2-0281-251CB4EF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83A85C-037D-2CA0-A0D8-9A68E4C093C0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6678AF-594D-4194-AD59-84C43D3AD8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04272E1-B761-4CCA-54B4-F655C8E618F5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8EC8DE2-3536-5B84-BF3D-476E52A3CCE9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0DAA13-6A3A-9F48-5FFE-4F7037D0246E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511441C-2980-4AC7-5826-CA2AD7BE22EC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A0630E3-BAD7-D253-6B1B-A4EA735D855E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D973FB3-37BB-1D24-2AB2-02C1F5B3B3C7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058F830-21FA-2F8D-A08D-47A120F7E5BC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E81FD57-C725-618F-83C0-ACF747AF9256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5167387-394B-BAF9-ADA8-0985F6722AAB}"/>
              </a:ext>
            </a:extLst>
          </p:cNvPr>
          <p:cNvSpPr txBox="1"/>
          <p:nvPr/>
        </p:nvSpPr>
        <p:spPr>
          <a:xfrm>
            <a:off x="2209800" y="102211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Conclusion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9D74E4-7E8F-936A-2FD2-9E93284249EF}"/>
              </a:ext>
            </a:extLst>
          </p:cNvPr>
          <p:cNvSpPr txBox="1"/>
          <p:nvPr/>
        </p:nvSpPr>
        <p:spPr>
          <a:xfrm>
            <a:off x="1886372" y="3199168"/>
            <a:ext cx="1242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endParaRPr lang="et-EE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C928DC-7B40-7E79-7697-992140F35BB7}"/>
              </a:ext>
            </a:extLst>
          </p:cNvPr>
          <p:cNvSpPr txBox="1"/>
          <p:nvPr/>
        </p:nvSpPr>
        <p:spPr>
          <a:xfrm>
            <a:off x="2209800" y="3305794"/>
            <a:ext cx="108966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t-EE" sz="2800" b="1" dirty="0" err="1">
                <a:latin typeface="Amasis MT Pro" panose="02040504050005020304" pitchFamily="18" charset="0"/>
              </a:rPr>
              <a:t>This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project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demonstrated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that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combining</a:t>
            </a:r>
            <a:r>
              <a:rPr lang="et-EE" sz="2800" b="1" dirty="0">
                <a:latin typeface="Amasis MT Pro" panose="02040504050005020304" pitchFamily="18" charset="0"/>
              </a:rPr>
              <a:t>:</a:t>
            </a:r>
            <a:endParaRPr lang="en-US" sz="2800" b="1" dirty="0">
              <a:latin typeface="Amasis MT Pro" panose="02040504050005020304" pitchFamily="18" charset="0"/>
            </a:endParaRPr>
          </a:p>
          <a:p>
            <a:endParaRPr lang="et-EE" sz="2800" dirty="0">
              <a:latin typeface="Amasis MT Pro" panose="02040504050005020304" pitchFamily="18" charset="0"/>
            </a:endParaRPr>
          </a:p>
          <a:p>
            <a:pPr lvl="0"/>
            <a:r>
              <a:rPr lang="et-EE" sz="2800" dirty="0">
                <a:latin typeface="Amasis MT Pro" panose="02040504050005020304" pitchFamily="18" charset="0"/>
              </a:rPr>
              <a:t>Sentinel-2 </a:t>
            </a:r>
            <a:r>
              <a:rPr lang="et-EE" sz="2800" dirty="0" err="1">
                <a:latin typeface="Amasis MT Pro" panose="02040504050005020304" pitchFamily="18" charset="0"/>
              </a:rPr>
              <a:t>time-series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imagery</a:t>
            </a:r>
            <a:r>
              <a:rPr lang="et-EE" sz="2800" dirty="0">
                <a:latin typeface="Amasis MT Pro" panose="02040504050005020304" pitchFamily="18" charset="0"/>
              </a:rPr>
              <a:t>, </a:t>
            </a:r>
          </a:p>
          <a:p>
            <a:pPr lvl="0"/>
            <a:r>
              <a:rPr lang="et-EE" sz="2800" dirty="0" err="1">
                <a:latin typeface="Amasis MT Pro" panose="02040504050005020304" pitchFamily="18" charset="0"/>
              </a:rPr>
              <a:t>elevation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data</a:t>
            </a:r>
            <a:r>
              <a:rPr lang="et-EE" sz="2800" dirty="0">
                <a:latin typeface="Amasis MT Pro" panose="02040504050005020304" pitchFamily="18" charset="0"/>
              </a:rPr>
              <a:t>, </a:t>
            </a:r>
          </a:p>
          <a:p>
            <a:pPr lvl="0"/>
            <a:r>
              <a:rPr lang="et-EE" sz="2800" dirty="0">
                <a:latin typeface="Amasis MT Pro" panose="02040504050005020304" pitchFamily="18" charset="0"/>
              </a:rPr>
              <a:t>and soil </a:t>
            </a:r>
            <a:r>
              <a:rPr lang="et-EE" sz="2800" dirty="0" err="1">
                <a:latin typeface="Amasis MT Pro" panose="02040504050005020304" pitchFamily="18" charset="0"/>
              </a:rPr>
              <a:t>features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endParaRPr lang="en-US" sz="2800" dirty="0">
              <a:latin typeface="Amasis MT Pro" panose="02040504050005020304" pitchFamily="18" charset="0"/>
            </a:endParaRPr>
          </a:p>
          <a:p>
            <a:pPr lvl="0"/>
            <a:endParaRPr lang="et-EE" sz="2800" dirty="0">
              <a:latin typeface="Amasis MT Pro" panose="02040504050005020304" pitchFamily="18" charset="0"/>
            </a:endParaRPr>
          </a:p>
          <a:p>
            <a:r>
              <a:rPr lang="et-EE" sz="2800" dirty="0" err="1">
                <a:latin typeface="Amasis MT Pro" panose="02040504050005020304" pitchFamily="18" charset="0"/>
              </a:rPr>
              <a:t>can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provide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reliable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forest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tree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classification</a:t>
            </a:r>
            <a:r>
              <a:rPr lang="et-EE" sz="2800" dirty="0">
                <a:latin typeface="Amasis MT Pro" panose="02040504050005020304" pitchFamily="18" charset="0"/>
              </a:rPr>
              <a:t> in Estonian </a:t>
            </a:r>
            <a:r>
              <a:rPr lang="et-EE" sz="2800" dirty="0" err="1">
                <a:latin typeface="Amasis MT Pro" panose="02040504050005020304" pitchFamily="18" charset="0"/>
              </a:rPr>
              <a:t>forests</a:t>
            </a:r>
            <a:r>
              <a:rPr lang="et-EE" sz="2800" dirty="0">
                <a:latin typeface="Amasis MT Pro" panose="02040504050005020304" pitchFamily="18" charset="0"/>
              </a:rPr>
              <a:t>.</a:t>
            </a:r>
            <a:endParaRPr lang="en-US" sz="2800" dirty="0">
              <a:latin typeface="Amasis MT Pro" panose="02040504050005020304" pitchFamily="18" charset="0"/>
            </a:endParaRPr>
          </a:p>
          <a:p>
            <a:endParaRPr lang="et-EE" sz="2800" dirty="0">
              <a:latin typeface="Amasis MT Pro" panose="02040504050005020304" pitchFamily="18" charset="0"/>
            </a:endParaRPr>
          </a:p>
          <a:p>
            <a:r>
              <a:rPr lang="et-EE" sz="2800" dirty="0">
                <a:latin typeface="Amasis MT Pro" panose="02040504050005020304" pitchFamily="18" charset="0"/>
              </a:rPr>
              <a:t>The </a:t>
            </a:r>
            <a:r>
              <a:rPr lang="et-EE" sz="2800" dirty="0" err="1">
                <a:latin typeface="Amasis MT Pro" panose="02040504050005020304" pitchFamily="18" charset="0"/>
              </a:rPr>
              <a:t>Random</a:t>
            </a:r>
            <a:r>
              <a:rPr lang="et-EE" sz="2800" dirty="0">
                <a:latin typeface="Amasis MT Pro" panose="02040504050005020304" pitchFamily="18" charset="0"/>
              </a:rPr>
              <a:t> Forest </a:t>
            </a:r>
            <a:r>
              <a:rPr lang="et-EE" sz="2800" dirty="0" err="1">
                <a:latin typeface="Amasis MT Pro" panose="02040504050005020304" pitchFamily="18" charset="0"/>
              </a:rPr>
              <a:t>model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achieved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strong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overall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accuracy</a:t>
            </a:r>
            <a:r>
              <a:rPr lang="et-EE" sz="2800" dirty="0">
                <a:latin typeface="Amasis MT Pro" panose="02040504050005020304" pitchFamily="18" charset="0"/>
              </a:rPr>
              <a:t> and </a:t>
            </a:r>
            <a:r>
              <a:rPr lang="et-EE" sz="2800" dirty="0" err="1">
                <a:latin typeface="Amasis MT Pro" panose="02040504050005020304" pitchFamily="18" charset="0"/>
              </a:rPr>
              <a:t>showed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that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seasonal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spectral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dynamics</a:t>
            </a:r>
            <a:r>
              <a:rPr lang="et-EE" sz="2800" dirty="0">
                <a:latin typeface="Amasis MT Pro" panose="02040504050005020304" pitchFamily="18" charset="0"/>
              </a:rPr>
              <a:t> are </a:t>
            </a:r>
            <a:r>
              <a:rPr lang="et-EE" sz="2800" dirty="0" err="1">
                <a:latin typeface="Amasis MT Pro" panose="02040504050005020304" pitchFamily="18" charset="0"/>
              </a:rPr>
              <a:t>highly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informative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distinguishing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tree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species</a:t>
            </a:r>
            <a:r>
              <a:rPr lang="et-EE" dirty="0"/>
              <a:t>.</a:t>
            </a:r>
          </a:p>
          <a:p>
            <a:endParaRPr lang="et-EE" sz="28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008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DD31D-F8AF-8808-5719-BE3C1D33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4479E2-8685-7CCE-515E-90E137B1A4C0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2107E4-A3EF-59A3-DC1E-7946CB66A6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5D11B2C-AC79-A262-6520-562219608B77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EA1F5CC-51F7-F474-2C39-945E0FBB8E30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8F06A15-E6A6-9253-D188-3CC461EA42A0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9568576-BF29-B656-5100-79491A68727E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BB1A083-A5DF-90D8-EE2B-494B3FEBAADA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0EFCB0EF-1F42-E3C5-F216-3DF15353EB5D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EEDA206-8853-264E-17B4-4D04A513E672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A815307-0D47-8EA0-5C34-29516BD00A98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51FBD3F-F83B-70E7-9A7F-516943F9BD56}"/>
              </a:ext>
            </a:extLst>
          </p:cNvPr>
          <p:cNvSpPr txBox="1"/>
          <p:nvPr/>
        </p:nvSpPr>
        <p:spPr>
          <a:xfrm>
            <a:off x="2209800" y="102211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 err="1">
                <a:solidFill>
                  <a:schemeClr val="bg1"/>
                </a:solidFill>
                <a:latin typeface="Amasis MT Pro" panose="02040504050005020304" pitchFamily="18" charset="0"/>
              </a:rPr>
              <a:t>Futute</a:t>
            </a:r>
            <a:r>
              <a:rPr lang="en-US" sz="5400" dirty="0">
                <a:solidFill>
                  <a:schemeClr val="bg1"/>
                </a:solidFill>
                <a:latin typeface="Amasis MT Pro" panose="02040504050005020304" pitchFamily="18" charset="0"/>
              </a:rPr>
              <a:t> work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FD1990-A124-B630-83CE-6C3E1BAF1F4E}"/>
              </a:ext>
            </a:extLst>
          </p:cNvPr>
          <p:cNvSpPr txBox="1"/>
          <p:nvPr/>
        </p:nvSpPr>
        <p:spPr>
          <a:xfrm>
            <a:off x="1886372" y="3199168"/>
            <a:ext cx="1242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endParaRPr lang="et-EE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90479F-46DB-1D28-992F-26B970142FEE}"/>
              </a:ext>
            </a:extLst>
          </p:cNvPr>
          <p:cNvSpPr txBox="1"/>
          <p:nvPr/>
        </p:nvSpPr>
        <p:spPr>
          <a:xfrm>
            <a:off x="2209800" y="3305794"/>
            <a:ext cx="108966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t-EE" sz="2800" b="1" dirty="0" err="1">
                <a:latin typeface="Amasis MT Pro" panose="02040504050005020304" pitchFamily="18" charset="0"/>
              </a:rPr>
              <a:t>Possible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future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improvements</a:t>
            </a:r>
            <a:r>
              <a:rPr lang="et-EE" sz="2800" b="1" dirty="0">
                <a:latin typeface="Amasis MT Pro" panose="02040504050005020304" pitchFamily="18" charset="0"/>
              </a:rPr>
              <a:t> </a:t>
            </a:r>
            <a:r>
              <a:rPr lang="et-EE" sz="2800" b="1" dirty="0" err="1">
                <a:latin typeface="Amasis MT Pro" panose="02040504050005020304" pitchFamily="18" charset="0"/>
              </a:rPr>
              <a:t>include</a:t>
            </a:r>
            <a:r>
              <a:rPr lang="et-EE" sz="2800" b="1" dirty="0">
                <a:latin typeface="Amasis MT Pro" panose="02040504050005020304" pitchFamily="18" charset="0"/>
              </a:rPr>
              <a:t>:</a:t>
            </a:r>
            <a:endParaRPr lang="en-US" sz="2800" b="1" dirty="0">
              <a:latin typeface="Amasis MT Pro" panose="02040504050005020304" pitchFamily="18" charset="0"/>
            </a:endParaRPr>
          </a:p>
          <a:p>
            <a:endParaRPr lang="et-EE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Increasing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training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data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minority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classes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br>
              <a:rPr lang="en-US" sz="2800" dirty="0">
                <a:latin typeface="Amasis MT Pro" panose="02040504050005020304" pitchFamily="18" charset="0"/>
              </a:rPr>
            </a:br>
            <a:endParaRPr lang="et-EE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Testing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deep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learning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approaches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br>
              <a:rPr lang="en-US" sz="2800" dirty="0">
                <a:latin typeface="Amasis MT Pro" panose="02040504050005020304" pitchFamily="18" charset="0"/>
              </a:rPr>
            </a:br>
            <a:endParaRPr lang="et-EE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Incorporating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LiDAR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data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br>
              <a:rPr lang="en-US" sz="2800" dirty="0">
                <a:latin typeface="Amasis MT Pro" panose="02040504050005020304" pitchFamily="18" charset="0"/>
              </a:rPr>
            </a:br>
            <a:endParaRPr lang="et-EE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Using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multi-year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satellite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time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series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endParaRPr lang="en-US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t-EE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Improving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mixed-forest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stand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classification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endParaRPr lang="en-US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t-EE" sz="2800" dirty="0">
              <a:latin typeface="Amasis MT Pro" panose="020405040500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t-EE" sz="2800" dirty="0" err="1">
                <a:latin typeface="Amasis MT Pro" panose="02040504050005020304" pitchFamily="18" charset="0"/>
              </a:rPr>
              <a:t>Applying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the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workflow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operational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forest</a:t>
            </a:r>
            <a:r>
              <a:rPr lang="et-EE" sz="2800" dirty="0">
                <a:latin typeface="Amasis MT Pro" panose="02040504050005020304" pitchFamily="18" charset="0"/>
              </a:rPr>
              <a:t> </a:t>
            </a:r>
            <a:r>
              <a:rPr lang="et-EE" sz="2800" dirty="0" err="1">
                <a:latin typeface="Amasis MT Pro" panose="02040504050005020304" pitchFamily="18" charset="0"/>
              </a:rPr>
              <a:t>monitoring</a:t>
            </a:r>
            <a:r>
              <a:rPr lang="et-EE" sz="2800" dirty="0">
                <a:latin typeface="Amasis MT Pro" panose="02040504050005020304" pitchFamily="18" charset="0"/>
              </a:rPr>
              <a:t> and LULUCF </a:t>
            </a:r>
            <a:r>
              <a:rPr lang="et-EE" sz="2800" dirty="0" err="1">
                <a:latin typeface="Amasis MT Pro" panose="02040504050005020304" pitchFamily="18" charset="0"/>
              </a:rPr>
              <a:t>reporting</a:t>
            </a:r>
            <a:endParaRPr lang="et-EE" sz="28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3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A113-6926-6C85-5C22-29D16483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539D9C-5702-D846-4929-128EF20A5F39}"/>
              </a:ext>
            </a:extLst>
          </p:cNvPr>
          <p:cNvGrpSpPr/>
          <p:nvPr/>
        </p:nvGrpSpPr>
        <p:grpSpPr>
          <a:xfrm>
            <a:off x="14804006" y="402390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5668BDE-839F-D9E7-6FE8-3ADBA88501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65F3C3-C915-9DA8-9DF1-DDAFEBB34E41}"/>
                </a:ext>
              </a:extLst>
            </p:cNvPr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62BDD4D-6EFF-36CE-1025-7B652825F690}"/>
              </a:ext>
            </a:extLst>
          </p:cNvPr>
          <p:cNvGrpSpPr/>
          <p:nvPr/>
        </p:nvGrpSpPr>
        <p:grpSpPr>
          <a:xfrm>
            <a:off x="0" y="0"/>
            <a:ext cx="18288000" cy="2389668"/>
            <a:chOff x="0" y="0"/>
            <a:chExt cx="4867742" cy="6125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DA3012D-22EB-F7C7-3A70-B2D483E5B0D6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01FEB2E-7D36-F2F7-1E87-3D178E321489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C4915DB-CC6E-1840-CC05-91F023AEDEBD}"/>
              </a:ext>
            </a:extLst>
          </p:cNvPr>
          <p:cNvSpPr/>
          <p:nvPr/>
        </p:nvSpPr>
        <p:spPr>
          <a:xfrm>
            <a:off x="15262710" y="867020"/>
            <a:ext cx="2165273" cy="2192682"/>
          </a:xfrm>
          <a:custGeom>
            <a:avLst/>
            <a:gdLst/>
            <a:ahLst/>
            <a:cxnLst/>
            <a:rect l="l" t="t" r="r" b="b"/>
            <a:pathLst>
              <a:path w="2165273" h="2192682">
                <a:moveTo>
                  <a:pt x="0" y="0"/>
                </a:moveTo>
                <a:lnTo>
                  <a:pt x="2165274" y="0"/>
                </a:lnTo>
                <a:lnTo>
                  <a:pt x="2165274" y="2192682"/>
                </a:lnTo>
                <a:lnTo>
                  <a:pt x="0" y="2192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2D849DB-4282-12D2-3568-B1F18CF65D34}"/>
              </a:ext>
            </a:extLst>
          </p:cNvPr>
          <p:cNvGrpSpPr/>
          <p:nvPr/>
        </p:nvGrpSpPr>
        <p:grpSpPr>
          <a:xfrm>
            <a:off x="15012476" y="495300"/>
            <a:ext cx="2669159" cy="2796778"/>
            <a:chOff x="0" y="-44496"/>
            <a:chExt cx="812800" cy="89055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83CC103-11E9-3077-C104-43435D4CD431}"/>
                </a:ext>
              </a:extLst>
            </p:cNvPr>
            <p:cNvSpPr/>
            <p:nvPr/>
          </p:nvSpPr>
          <p:spPr>
            <a:xfrm>
              <a:off x="0" y="-126"/>
              <a:ext cx="812800" cy="846180"/>
            </a:xfrm>
            <a:custGeom>
              <a:avLst/>
              <a:gdLst/>
              <a:ahLst/>
              <a:cxnLst/>
              <a:rect l="l" t="t" r="r" b="b"/>
              <a:pathLst>
                <a:path w="812800" h="846180">
                  <a:moveTo>
                    <a:pt x="406400" y="0"/>
                  </a:moveTo>
                  <a:cubicBezTo>
                    <a:pt x="181951" y="0"/>
                    <a:pt x="0" y="189424"/>
                    <a:pt x="0" y="423090"/>
                  </a:cubicBezTo>
                  <a:cubicBezTo>
                    <a:pt x="0" y="656756"/>
                    <a:pt x="181951" y="846180"/>
                    <a:pt x="406400" y="846180"/>
                  </a:cubicBezTo>
                  <a:cubicBezTo>
                    <a:pt x="630849" y="846180"/>
                    <a:pt x="812800" y="656756"/>
                    <a:pt x="812800" y="423090"/>
                  </a:cubicBezTo>
                  <a:cubicBezTo>
                    <a:pt x="812800" y="18942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00025" cap="sq">
              <a:solidFill>
                <a:srgbClr val="F6F4F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A066963-D22F-BE5C-1F52-ED2B35276B54}"/>
                </a:ext>
              </a:extLst>
            </p:cNvPr>
            <p:cNvSpPr txBox="1"/>
            <p:nvPr/>
          </p:nvSpPr>
          <p:spPr>
            <a:xfrm>
              <a:off x="76200" y="-44496"/>
              <a:ext cx="660400" cy="81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5">
            <a:extLst>
              <a:ext uri="{FF2B5EF4-FFF2-40B4-BE49-F238E27FC236}">
                <a16:creationId xmlns:a16="http://schemas.microsoft.com/office/drawing/2014/main" id="{AEB075ED-80E1-F567-AFEC-9C1B9F8BDFDA}"/>
              </a:ext>
            </a:extLst>
          </p:cNvPr>
          <p:cNvGrpSpPr/>
          <p:nvPr/>
        </p:nvGrpSpPr>
        <p:grpSpPr>
          <a:xfrm>
            <a:off x="12192" y="7675768"/>
            <a:ext cx="18288000" cy="2389668"/>
            <a:chOff x="0" y="0"/>
            <a:chExt cx="4867742" cy="612520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A95D316-AAAF-5268-9FD1-11F57373AC20}"/>
                </a:ext>
              </a:extLst>
            </p:cNvPr>
            <p:cNvSpPr/>
            <p:nvPr/>
          </p:nvSpPr>
          <p:spPr>
            <a:xfrm>
              <a:off x="0" y="0"/>
              <a:ext cx="4867742" cy="612520"/>
            </a:xfrm>
            <a:custGeom>
              <a:avLst/>
              <a:gdLst/>
              <a:ahLst/>
              <a:cxnLst/>
              <a:rect l="l" t="t" r="r" b="b"/>
              <a:pathLst>
                <a:path w="4867742" h="612520">
                  <a:moveTo>
                    <a:pt x="0" y="0"/>
                  </a:moveTo>
                  <a:lnTo>
                    <a:pt x="4867742" y="0"/>
                  </a:lnTo>
                  <a:lnTo>
                    <a:pt x="4867742" y="612520"/>
                  </a:lnTo>
                  <a:lnTo>
                    <a:pt x="0" y="612520"/>
                  </a:lnTo>
                  <a:close/>
                </a:path>
              </a:pathLst>
            </a:custGeom>
            <a:solidFill>
              <a:srgbClr val="25539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56AFF0FE-DED0-2969-1B73-41441EE33BA3}"/>
                </a:ext>
              </a:extLst>
            </p:cNvPr>
            <p:cNvSpPr txBox="1"/>
            <p:nvPr/>
          </p:nvSpPr>
          <p:spPr>
            <a:xfrm>
              <a:off x="0" y="-123825"/>
              <a:ext cx="4867742" cy="736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F8FA645-9771-8A55-E4D4-8767BDA933D8}"/>
              </a:ext>
            </a:extLst>
          </p:cNvPr>
          <p:cNvSpPr txBox="1"/>
          <p:nvPr/>
        </p:nvSpPr>
        <p:spPr>
          <a:xfrm>
            <a:off x="4343400" y="4152900"/>
            <a:ext cx="784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masis MT Pro" panose="02040504050005020304" pitchFamily="18" charset="0"/>
              </a:rPr>
              <a:t>Thank you!</a:t>
            </a:r>
          </a:p>
          <a:p>
            <a:pPr algn="ctr"/>
            <a:r>
              <a:rPr lang="en-US" sz="5400" dirty="0">
                <a:latin typeface="Amasis MT Pro" panose="020405040500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0685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</TotalTime>
  <Words>493</Words>
  <Application>Microsoft Office PowerPoint</Application>
  <PresentationFormat>Custom</PresentationFormat>
  <Paragraphs>105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Aptos</vt:lpstr>
      <vt:lpstr>Calibri</vt:lpstr>
      <vt:lpstr>Amasis MT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Gradient Monotone Minimalist Presentation Template</dc:title>
  <dc:creator>Liis Lille</dc:creator>
  <cp:lastModifiedBy>Liis Lille</cp:lastModifiedBy>
  <cp:revision>9</cp:revision>
  <dcterms:created xsi:type="dcterms:W3CDTF">2006-08-16T00:00:00Z</dcterms:created>
  <dcterms:modified xsi:type="dcterms:W3CDTF">2026-05-07T06:57:56Z</dcterms:modified>
  <dc:identifier>DAGbidgV6Gc</dc:identifier>
</cp:coreProperties>
</file>